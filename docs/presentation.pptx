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images / s</c:v>
                </c:pt>
              </c:strCache>
            </c:strRef>
          </c:tx>
          <c:spPr>
            <a:solidFill>
              <a:srgbClr val="2A9D8F"/>
            </a:solidFill>
            <a:effectLst/>
          </c:spPr>
          <c:invertIfNegative val="0"/>
          <c:dLbls>
            <c:numFmt formatCode="0.00" sourceLinked="0"/>
            <c:txPr>
              <a:bodyPr/>
              <a:lstStyle/>
              <a:p>
                <a:pPr>
                  <a:defRPr b="0" i="0" strike="noStrike" sz="1200" u="none">
                    <a:solidFill>
                      <a:srgbClr val="1B2B34"/>
                    </a:solidFill>
                    <a:latin typeface="Arial"/>
                  </a:defRPr>
                </a:pPr>
              </a:p>
            </c:txPr>
            <c:showLegendKey val="0"/>
            <c:showVal val="1"/>
            <c:showCatName val="0"/>
            <c:showSerName val="0"/>
            <c:showPercent val="0"/>
            <c:showBubbleSize val="0"/>
            <c:showLeaderLines val="0"/>
          </c:dLbls>
          <c:cat>
            <c:multiLvlStrRef>
              <c:f>Sheet1!$A$2:$A$7</c:f>
              <c:multiLvlStrCache>
                <c:ptCount val="6"/>
                <c:lvl>
                  <c:pt idx="0">
                    <c:v>E0</c:v>
                  </c:pt>
                  <c:pt idx="1">
                    <c:v>E1</c:v>
                  </c:pt>
                  <c:pt idx="2">
                    <c:v>E2</c:v>
                  </c:pt>
                  <c:pt idx="3">
                    <c:v>E3</c:v>
                  </c:pt>
                  <c:pt idx="4">
                    <c:v>E5</c:v>
                  </c:pt>
                  <c:pt idx="5">
                    <c:v>E8 (2× T4)</c:v>
                  </c:pt>
                </c:lvl>
              </c:multiLvlStrCache>
            </c:multiLvlStrRef>
          </c:cat>
          <c:val>
            <c:numRef>
              <c:f>Sheet1!$B$2:$B$7</c:f>
              <c:numCache>
                <c:formatCode>General</c:formatCode>
                <c:ptCount val="6"/>
                <c:pt idx="0">
                  <c:v>1.71</c:v>
                </c:pt>
                <c:pt idx="1">
                  <c:v>0.71</c:v>
                </c:pt>
                <c:pt idx="2">
                  <c:v>1.56</c:v>
                </c:pt>
                <c:pt idx="3">
                  <c:v>1.22</c:v>
                </c:pt>
                <c:pt idx="4">
                  <c:v>1.23</c:v>
                </c:pt>
                <c:pt idx="5">
                  <c:v>2.49</c:v>
                </c:pt>
              </c:numCache>
            </c:numRef>
          </c:val>
        </c:ser>
        <c:dLbls>
          <c:numFmt formatCode="0.00" sourceLinked="0"/>
          <c:txPr>
            <a:bodyPr/>
            <a:lstStyle/>
            <a:p>
              <a:pPr>
                <a:defRPr b="0" i="0" strike="noStrike" sz="1200" u="none">
                  <a:solidFill>
                    <a:srgbClr val="1B2B34"/>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34"/>
                </a:solidFill>
                <a:latin typeface="Arial"/>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9525" cap="flat">
              <a:solidFill>
                <a:srgbClr val="E4EB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Content (geo P₁₋₄)</c:v>
                </c:pt>
              </c:strCache>
            </c:strRef>
          </c:tx>
          <c:spPr>
            <a:solidFill>
              <a:srgbClr val="0F6E74"/>
            </a:solidFill>
            <a:effectLst/>
          </c:spPr>
          <c:invertIfNegative val="0"/>
          <c:dLbls>
            <c:numFmt formatCode="0.000" sourceLinked="0"/>
            <c:txPr>
              <a:bodyPr/>
              <a:lstStyle/>
              <a:p>
                <a:pPr>
                  <a:defRPr b="0" i="0" strike="noStrike" sz="1100" u="none">
                    <a:solidFill>
                      <a:srgbClr val="1B2B34"/>
                    </a:solidFill>
                    <a:latin typeface="Arial"/>
                  </a:defRPr>
                </a:pPr>
              </a:p>
            </c:txPr>
            <c:showLegendKey val="0"/>
            <c:showVal val="1"/>
            <c:showCatName val="0"/>
            <c:showSerName val="0"/>
            <c:showPercent val="0"/>
            <c:showBubbleSize val="0"/>
            <c:showLeaderLines val="0"/>
          </c:dLbls>
          <c:cat>
            <c:multiLvlStrRef>
              <c:f>Sheet1!$A$2:$A$4</c:f>
              <c:multiLvlStrCache>
                <c:ptCount val="3"/>
                <c:lvl>
                  <c:pt idx="0">
                    <c:v>E3 greedy</c:v>
                  </c:pt>
                  <c:pt idx="1">
                    <c:v>E8 greedy</c:v>
                  </c:pt>
                  <c:pt idx="2">
                    <c:v>E8 + MBR</c:v>
                  </c:pt>
                </c:lvl>
              </c:multiLvlStrCache>
            </c:multiLvlStrRef>
          </c:cat>
          <c:val>
            <c:numRef>
              <c:f>Sheet1!$B$2:$B$4</c:f>
              <c:numCache>
                <c:formatCode>General</c:formatCode>
                <c:ptCount val="3"/>
                <c:pt idx="0">
                  <c:v>0.781</c:v>
                </c:pt>
                <c:pt idx="1">
                  <c:v>0.789</c:v>
                </c:pt>
                <c:pt idx="2">
                  <c:v>0.792</c:v>
                </c:pt>
              </c:numCache>
            </c:numRef>
          </c:val>
        </c:ser>
        <c:ser>
          <c:idx val="1"/>
          <c:order val="1"/>
          <c:tx>
            <c:strRef>
              <c:f>Sheet1!$C$1</c:f>
              <c:strCache>
                <c:ptCount val="1"/>
                <c:pt idx="0">
                  <c:v>Length penalty (LP)</c:v>
                </c:pt>
              </c:strCache>
            </c:strRef>
          </c:tx>
          <c:spPr>
            <a:solidFill>
              <a:srgbClr val="E8A33D"/>
            </a:solidFill>
            <a:effectLst/>
          </c:spPr>
          <c:invertIfNegative val="0"/>
          <c:dLbls>
            <c:numFmt formatCode="0.000" sourceLinked="0"/>
            <c:txPr>
              <a:bodyPr/>
              <a:lstStyle/>
              <a:p>
                <a:pPr>
                  <a:defRPr b="0" i="0" strike="noStrike" sz="1100" u="none">
                    <a:solidFill>
                      <a:srgbClr val="1B2B34"/>
                    </a:solidFill>
                    <a:latin typeface="Arial"/>
                  </a:defRPr>
                </a:pPr>
              </a:p>
            </c:txPr>
            <c:showLegendKey val="0"/>
            <c:showVal val="1"/>
            <c:showCatName val="0"/>
            <c:showSerName val="0"/>
            <c:showPercent val="0"/>
            <c:showBubbleSize val="0"/>
            <c:showLeaderLines val="0"/>
          </c:dLbls>
          <c:cat>
            <c:multiLvlStrRef>
              <c:f>Sheet1!$A$2:$A$4</c:f>
              <c:multiLvlStrCache>
                <c:ptCount val="3"/>
                <c:lvl>
                  <c:pt idx="0">
                    <c:v>E3 greedy</c:v>
                  </c:pt>
                  <c:pt idx="1">
                    <c:v>E8 greedy</c:v>
                  </c:pt>
                  <c:pt idx="2">
                    <c:v>E8 + MBR</c:v>
                  </c:pt>
                </c:lvl>
              </c:multiLvlStrCache>
            </c:multiLvlStrRef>
          </c:cat>
          <c:val>
            <c:numRef>
              <c:f>Sheet1!$C$2:$C$4</c:f>
              <c:numCache>
                <c:formatCode>General</c:formatCode>
                <c:ptCount val="3"/>
                <c:pt idx="0">
                  <c:v>0.858</c:v>
                </c:pt>
                <c:pt idx="1">
                  <c:v>0.858</c:v>
                </c:pt>
                <c:pt idx="2">
                  <c:v>0.867</c:v>
                </c:pt>
              </c:numCache>
            </c:numRef>
          </c:val>
        </c:ser>
        <c:dLbls>
          <c:numFmt formatCode="0.000" sourceLinked="0"/>
          <c:txPr>
            <a:bodyPr/>
            <a:lstStyle/>
            <a:p>
              <a:pPr>
                <a:defRPr b="0" i="0" strike="noStrike" sz="1100" u="none">
                  <a:solidFill>
                    <a:srgbClr val="1B2B34"/>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34"/>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4EB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B34"/>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B34"/>
                </a:solidFill>
                <a:latin typeface="Arial"/>
              </a:defRPr>
            </a:pPr>
            <a:r>
              <a:rPr sz="1300" b="0" i="0" u="none" strike="noStrike">
                <a:solidFill>
                  <a:srgbClr val="1B2B34"/>
                </a:solidFill>
                <a:latin typeface="Arial"/>
              </a:rPr>
              <a:t>Val BERT-BLEU₄ vs training images seen (greedy)</a:t>
            </a:r>
          </a:p>
        </c:rich>
      </c:tx>
      <c:layout/>
      <c:overlay val="0"/>
    </c:title>
    <c:autoTitleDeleted val="0"/>
    <c:plotArea>
      <c:layout/>
      <c:lineChart>
        <c:varyColors val="0"/>
        <c:ser>
          <c:idx val="0"/>
          <c:order val="0"/>
          <c:tx>
            <c:strRef>
              <c:f>Sheet1!$B$1</c:f>
              <c:strCache>
                <c:ptCount val="1"/>
                <c:pt idx="0">
                  <c:v>E8 checkpoints</c:v>
                </c:pt>
              </c:strCache>
            </c:strRef>
          </c:tx>
          <c:spPr>
            <a:solidFill>
              <a:srgbClr val="0F6E74"/>
            </a:solidFill>
            <a:ln w="25400" cap="flat">
              <a:solidFill>
                <a:srgbClr val="0F6E7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0F6E74"/>
              </a:solidFill>
              <a:ln w="9525" cap="flat">
                <a:solidFill>
                  <a:srgbClr val="0F6E74"/>
                </a:solidFill>
                <a:prstDash val="solid"/>
                <a:round/>
              </a:ln>
              <a:effectLst/>
            </c:spPr>
          </c:marker>
          <c:cat>
            <c:multiLvlStrRef>
              <c:f>Sheet1!$A$2:$A$5</c:f>
              <c:multiLvlStrCache>
                <c:ptCount val="4"/>
                <c:lvl>
                  <c:pt idx="0">
                    <c:v>5,066</c:v>
                  </c:pt>
                  <c:pt idx="1">
                    <c:v>10,132</c:v>
                  </c:pt>
                  <c:pt idx="2">
                    <c:v>15,198</c:v>
                  </c:pt>
                  <c:pt idx="3">
                    <c:v>20,264</c:v>
                  </c:pt>
                </c:lvl>
              </c:multiLvlStrCache>
            </c:multiLvlStrRef>
          </c:cat>
          <c:val>
            <c:numRef>
              <c:f>Sheet1!$B$2:$B$5</c:f>
              <c:numCache>
                <c:formatCode>General</c:formatCode>
                <c:ptCount val="4"/>
                <c:pt idx="0">
                  <c:v>0.6702</c:v>
                </c:pt>
                <c:pt idx="1">
                  <c:v>0.6699</c:v>
                </c:pt>
                <c:pt idx="2">
                  <c:v>0.6721</c:v>
                </c:pt>
                <c:pt idx="3">
                  <c:v>0.67</c:v>
                </c:pt>
              </c:numCache>
            </c:numRef>
          </c:val>
          <c:smooth val="0"/>
        </c:ser>
        <c:ser>
          <c:idx val="1"/>
          <c:order val="1"/>
          <c:tx>
            <c:strRef>
              <c:f>Sheet1!$C$1</c:f>
              <c:strCache>
                <c:ptCount val="1"/>
                <c:pt idx="0">
                  <c:v>E3 (2k images)</c:v>
                </c:pt>
              </c:strCache>
            </c:strRef>
          </c:tx>
          <c:spPr>
            <a:solidFill>
              <a:srgbClr val="A0AEB3"/>
            </a:solidFill>
            <a:ln w="25400" cap="flat">
              <a:solidFill>
                <a:srgbClr val="A0AEB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A0AEB3"/>
              </a:solidFill>
              <a:ln w="9525" cap="flat">
                <a:solidFill>
                  <a:srgbClr val="A0AEB3"/>
                </a:solidFill>
                <a:prstDash val="solid"/>
                <a:round/>
              </a:ln>
              <a:effectLst/>
            </c:spPr>
          </c:marker>
          <c:cat>
            <c:multiLvlStrRef>
              <c:f>Sheet1!$A$2:$A$5</c:f>
              <c:multiLvlStrCache>
                <c:ptCount val="4"/>
                <c:lvl>
                  <c:pt idx="0">
                    <c:v>5,066</c:v>
                  </c:pt>
                  <c:pt idx="1">
                    <c:v>10,132</c:v>
                  </c:pt>
                  <c:pt idx="2">
                    <c:v>15,198</c:v>
                  </c:pt>
                  <c:pt idx="3">
                    <c:v>20,264</c:v>
                  </c:pt>
                </c:lvl>
              </c:multiLvlStrCache>
            </c:multiLvlStrRef>
          </c:cat>
          <c:val>
            <c:numRef>
              <c:f>Sheet1!$C$2:$C$5</c:f>
              <c:numCache>
                <c:formatCode>General</c:formatCode>
                <c:ptCount val="4"/>
                <c:pt idx="0">
                  <c:v>0.6672</c:v>
                </c:pt>
                <c:pt idx="1">
                  <c:v>0.6672</c:v>
                </c:pt>
                <c:pt idx="2">
                  <c:v>0.6672</c:v>
                </c:pt>
                <c:pt idx="3">
                  <c:v>0.6672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B34"/>
                </a:solidFill>
                <a:latin typeface="Arial"/>
              </a:defRPr>
            </a:pPr>
            <a:endParaRPr lang="en-US"/>
          </a:p>
        </c:txPr>
        <c:crossAx val="2094734552"/>
        <c:crosses val="autoZero"/>
        <c:auto val="1"/>
        <c:lblAlgn val="ctr"/>
        <c:noMultiLvlLbl val="1"/>
      </c:catAx>
      <c:valAx>
        <c:axId val="2094734552"/>
        <c:scaling>
          <c:orientation val="minMax"/>
          <c:max val="0.68"/>
          <c:min val="0.66"/>
        </c:scaling>
        <c:delete val="0"/>
        <c:axPos val="l"/>
        <c:majorGridlines>
          <c:spPr>
            <a:ln w="9525" cap="flat">
              <a:solidFill>
                <a:srgbClr val="E4EBEA"/>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B34"/>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01: image captioning on VRSBench with the focus on training-time optimization. Three headline numbers: the final model reaches 0.686 BERT-BLEU4 on 1,000 held-out images, 2-GPU data parallelism doubled training throughput, and fp16 loss scaling turned crashing runs into a run that finished with only 4 skipped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VRSBench captions are long and spatial. Every decision used 200 validation images; the final comparison used 1,000 different test images to avoid selection bias. BERT-BLEU4 combines semantic n-gram recall with a symmetric length penalty, so caption length matters as much as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tokens = H/28 × W/28, so the 448×448 resize gives 256 tokens. Window attention keeps the ViT linear in the number of patches; the 2×2 merger cuts the LLM sequence 4×. LoRA starts exactly at the pretrained model because B is zero, and it adds no inference latency once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E0 to E5 change one thing each on the same 2,000 images and 200 validation images. E6 and E7 are noted for completeness. E8 combines the winners with efficiency and stability fixes and trains on the whole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LoRA on the ViT uses a 5x lower learning rate than the LLM because the ViT was already aligned to the LLM in pre-training. More pixels hurt: four global-attention layers scale quadratically and the windows stop tiling evenly. Scheduler and gradient accumulation gave nothing at 2,000 steps of batch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 was the expensive mistake: 1,296 patches instead of 1,024 make the global-attention layers 1.6x costlier and windows no longer tile evenly. For E8, each GPU keeps a full model copy and half the data; gradients are averaged once per optimizer step, and two DataLoader workers prepare images in parallel. Per-GPU throughput stayed at the single-GPU level, so scaling was near-linear.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the metric into its two factors shows the content term moves by about 0.01 across everything we tried, while the length penalty costs about 15 percent for every model. That is why decoding, which directly shapes length, gave a gain comparable to ten times more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bf16 the only option on T4 is fp16. The earlier loop broke on the first non-finite loss. GradScaler multiplies the loss by a scale factor before backward and divides the gradients back before the optimizer step; if any gradient is inf or NaN, that step is skipped and the scale is halved. Training stops only if 20 steps in a row overflow.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E8 changes several things at once, so it is a final recipe, not an ablation. The checkpoints are also taken at different points of the cosine schedule, so the curve mixes more data with lower learning rate. Per-GPU throughput matches the single-GPU runs, which means DDP scaled almost linearly.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Beam search is usually assumed to be better than greedy. Here it lowered BERT-BLEU4 at every length penalty while raising BLEU-4, because it prefers shorter, generic phrasing. MBR uses the evaluation metric itself as a utility between candidates, so it optimises what is scored without ever seeing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200 validation images, E8 and E3 looked tied. On 1,000 held-out images, both the training change and the decoding change are significant, and they add up. MBR costs 4.4 times more inference time, which is the main trade-off to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single-image evaluation produced no broken captions in 1,200 captions; batching with left padding in fp16 produced nine in about 5,800. They are detected by a simple rule and regenerated, and the final conclusions were checked with and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lessons: evaluate on enough data, treat numerical stability as part of optimization, put compute where measurements show a return, and understand the metric before optimizing it. Code, notebooks, all generated captions and the two final adapters are in the repository, so every number can be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A"/>
        </a:solidFill>
      </p:bgPr>
    </p:bg>
    <p:spTree>
      <p:nvGrpSpPr>
        <p:cNvPr id="1" name=""/>
        <p:cNvGrpSpPr/>
        <p:nvPr/>
      </p:nvGrpSpPr>
      <p:grpSpPr>
        <a:xfrm>
          <a:off x="0" y="0"/>
          <a:ext cx="0" cy="0"/>
          <a:chOff x="0" y="0"/>
          <a:chExt cx="0" cy="0"/>
        </a:xfrm>
      </p:grpSpPr>
      <p:sp>
        <p:nvSpPr>
          <p:cNvPr id="2" name="Text 0"/>
          <p:cNvSpPr txBox="1"/>
          <p:nvPr/>
        </p:nvSpPr>
        <p:spPr>
          <a:xfrm>
            <a:off x="640080" y="685800"/>
            <a:ext cx="10058400" cy="320040"/>
          </a:xfrm>
          <a:prstGeom prst="rect">
            <a:avLst/>
          </a:prstGeom>
          <a:noFill/>
          <a:ln/>
        </p:spPr>
        <p:txBody>
          <a:bodyPr wrap="square" lIns="0" tIns="0" rIns="0" bIns="0" rtlCol="0" anchor="t"/>
          <a:lstStyle/>
          <a:p>
            <a:pPr indent="0" marL="0">
              <a:buNone/>
            </a:pPr>
            <a:r>
              <a:rPr lang="en-US" sz="1300" b="1" spc="200" kern="0" dirty="0">
                <a:solidFill>
                  <a:srgbClr val="E8A33D"/>
                </a:solidFill>
                <a:latin typeface="Calibri" pitchFamily="34" charset="0"/>
                <a:ea typeface="Calibri" pitchFamily="34" charset="-122"/>
                <a:cs typeface="Calibri" pitchFamily="34" charset="-120"/>
              </a:rPr>
              <a:t>TASK 01  ·  IMAGE CAPTIONING  ·  TRAINING-TIME OPTIMIZATION</a:t>
            </a:r>
            <a:endParaRPr lang="en-US" sz="1300" dirty="0"/>
          </a:p>
        </p:txBody>
      </p:sp>
      <p:sp>
        <p:nvSpPr>
          <p:cNvPr id="3" name="Text 1"/>
          <p:cNvSpPr txBox="1"/>
          <p:nvPr/>
        </p:nvSpPr>
        <p:spPr>
          <a:xfrm>
            <a:off x="640080" y="1051560"/>
            <a:ext cx="969264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Remote-Sensing Image Captioning on VRSBench</a:t>
            </a:r>
            <a:endParaRPr lang="en-US" sz="4200" dirty="0"/>
          </a:p>
        </p:txBody>
      </p:sp>
      <p:sp>
        <p:nvSpPr>
          <p:cNvPr id="4" name="Text 2"/>
          <p:cNvSpPr txBox="1"/>
          <p:nvPr/>
        </p:nvSpPr>
        <p:spPr>
          <a:xfrm>
            <a:off x="640080" y="2560320"/>
            <a:ext cx="10515600" cy="457200"/>
          </a:xfrm>
          <a:prstGeom prst="rect">
            <a:avLst/>
          </a:prstGeom>
          <a:noFill/>
          <a:ln/>
        </p:spPr>
        <p:txBody>
          <a:bodyPr wrap="square" lIns="0" tIns="0" rIns="0" bIns="0" rtlCol="0" anchor="ctr"/>
          <a:lstStyle/>
          <a:p>
            <a:pPr indent="0" marL="0">
              <a:buNone/>
            </a:pPr>
            <a:r>
              <a:rPr lang="en-US" sz="1800" dirty="0">
                <a:solidFill>
                  <a:srgbClr val="CFE3E1"/>
                </a:solidFill>
                <a:latin typeface="Calibri" pitchFamily="34" charset="0"/>
                <a:ea typeface="Calibri" pitchFamily="34" charset="-122"/>
                <a:cs typeface="Calibri" pitchFamily="34" charset="-120"/>
              </a:rPr>
              <a:t>Qwen2.5-VL-3B + LoRA on two free T4 GPUs: what we changed, why, and what it measurably did</a:t>
            </a:r>
            <a:endParaRPr lang="en-US" sz="1800" dirty="0"/>
          </a:p>
        </p:txBody>
      </p:sp>
      <p:sp>
        <p:nvSpPr>
          <p:cNvPr id="5" name="Shape 3"/>
          <p:cNvSpPr/>
          <p:nvPr/>
        </p:nvSpPr>
        <p:spPr>
          <a:xfrm>
            <a:off x="10744200" y="640080"/>
            <a:ext cx="822960" cy="822960"/>
          </a:xfrm>
          <a:prstGeom prst="ellipse">
            <a:avLst/>
          </a:prstGeom>
          <a:solidFill>
            <a:srgbClr val="0F6E74"/>
          </a:solidFill>
          <a:ln w="12700">
            <a:solidFill>
              <a:srgbClr val="0F6E74"/>
            </a:solidFill>
            <a:prstDash val="solid"/>
          </a:ln>
        </p:spPr>
      </p:sp>
      <p:pic>
        <p:nvPicPr>
          <p:cNvPr id="6" name="Image 0" descr="preencoded.png">    </p:cNvPr>
          <p:cNvPicPr>
            <a:picLocks noChangeAspect="1"/>
          </p:cNvPicPr>
          <p:nvPr/>
        </p:nvPicPr>
        <p:blipFill>
          <a:blip r:embed="rId1"/>
          <a:stretch>
            <a:fillRect/>
          </a:stretch>
        </p:blipFill>
        <p:spPr>
          <a:xfrm>
            <a:off x="10925251" y="821131"/>
            <a:ext cx="460858" cy="460858"/>
          </a:xfrm>
          <a:prstGeom prst="rect">
            <a:avLst/>
          </a:prstGeom>
        </p:spPr>
      </p:pic>
      <p:sp>
        <p:nvSpPr>
          <p:cNvPr id="7" name="Shape 4"/>
          <p:cNvSpPr/>
          <p:nvPr/>
        </p:nvSpPr>
        <p:spPr>
          <a:xfrm>
            <a:off x="640080" y="3429000"/>
            <a:ext cx="3429000" cy="2331720"/>
          </a:xfrm>
          <a:prstGeom prst="roundRect">
            <a:avLst>
              <a:gd name="adj" fmla="val 4706"/>
            </a:avLst>
          </a:prstGeom>
          <a:solidFill>
            <a:srgbClr val="13303F"/>
          </a:solidFill>
          <a:ln w="12700">
            <a:solidFill>
              <a:srgbClr val="13303F"/>
            </a:solidFill>
            <a:prstDash val="solid"/>
          </a:ln>
        </p:spPr>
      </p:sp>
      <p:sp>
        <p:nvSpPr>
          <p:cNvPr id="8" name="Text 5"/>
          <p:cNvSpPr txBox="1"/>
          <p:nvPr/>
        </p:nvSpPr>
        <p:spPr>
          <a:xfrm>
            <a:off x="914400" y="3657600"/>
            <a:ext cx="2926080" cy="86868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0.686</a:t>
            </a:r>
            <a:endParaRPr lang="en-US" sz="4000" dirty="0"/>
          </a:p>
        </p:txBody>
      </p:sp>
      <p:sp>
        <p:nvSpPr>
          <p:cNvPr id="9" name="Text 6"/>
          <p:cNvSpPr txBox="1"/>
          <p:nvPr/>
        </p:nvSpPr>
        <p:spPr>
          <a:xfrm>
            <a:off x="914400" y="4572000"/>
            <a:ext cx="2926080" cy="5029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BERT-BLEU₄ on 1,000 held-out images</a:t>
            </a:r>
            <a:endParaRPr lang="en-US" sz="1500" dirty="0"/>
          </a:p>
        </p:txBody>
      </p:sp>
      <p:sp>
        <p:nvSpPr>
          <p:cNvPr id="10" name="Text 7"/>
          <p:cNvSpPr txBox="1"/>
          <p:nvPr/>
        </p:nvSpPr>
        <p:spPr>
          <a:xfrm>
            <a:off x="914400" y="5074920"/>
            <a:ext cx="2926080" cy="502920"/>
          </a:xfrm>
          <a:prstGeom prst="rect">
            <a:avLst/>
          </a:prstGeom>
          <a:noFill/>
          <a:ln/>
        </p:spPr>
        <p:txBody>
          <a:bodyPr wrap="square" lIns="0" tIns="0" rIns="0" bIns="0" rtlCol="0" anchor="t"/>
          <a:lstStyle/>
          <a:p>
            <a:pPr indent="0" marL="0">
              <a:buNone/>
            </a:pPr>
            <a:r>
              <a:rPr lang="en-US" sz="1300" dirty="0">
                <a:solidFill>
                  <a:srgbClr val="CFE3E1"/>
                </a:solidFill>
                <a:latin typeface="Calibri" pitchFamily="34" charset="0"/>
                <a:ea typeface="Calibri" pitchFamily="34" charset="-122"/>
                <a:cs typeface="Calibri" pitchFamily="34" charset="-120"/>
              </a:rPr>
              <a:t>+0.0166 over the best 2k-image model</a:t>
            </a:r>
            <a:endParaRPr lang="en-US" sz="1300" dirty="0"/>
          </a:p>
        </p:txBody>
      </p:sp>
      <p:sp>
        <p:nvSpPr>
          <p:cNvPr id="11" name="Shape 8"/>
          <p:cNvSpPr/>
          <p:nvPr/>
        </p:nvSpPr>
        <p:spPr>
          <a:xfrm>
            <a:off x="4343400" y="3429000"/>
            <a:ext cx="3429000" cy="2331720"/>
          </a:xfrm>
          <a:prstGeom prst="roundRect">
            <a:avLst>
              <a:gd name="adj" fmla="val 4706"/>
            </a:avLst>
          </a:prstGeom>
          <a:solidFill>
            <a:srgbClr val="13303F"/>
          </a:solidFill>
          <a:ln w="12700">
            <a:solidFill>
              <a:srgbClr val="13303F"/>
            </a:solidFill>
            <a:prstDash val="solid"/>
          </a:ln>
        </p:spPr>
      </p:sp>
      <p:sp>
        <p:nvSpPr>
          <p:cNvPr id="12" name="Text 9"/>
          <p:cNvSpPr txBox="1"/>
          <p:nvPr/>
        </p:nvSpPr>
        <p:spPr>
          <a:xfrm>
            <a:off x="4617720" y="3657600"/>
            <a:ext cx="2926080" cy="86868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2.0×</a:t>
            </a:r>
            <a:endParaRPr lang="en-US" sz="4000" dirty="0"/>
          </a:p>
        </p:txBody>
      </p:sp>
      <p:sp>
        <p:nvSpPr>
          <p:cNvPr id="13" name="Text 10"/>
          <p:cNvSpPr txBox="1"/>
          <p:nvPr/>
        </p:nvSpPr>
        <p:spPr>
          <a:xfrm>
            <a:off x="4617720" y="4572000"/>
            <a:ext cx="2926080" cy="5029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training throughput with 2-GPU DDP</a:t>
            </a:r>
            <a:endParaRPr lang="en-US" sz="1500" dirty="0"/>
          </a:p>
        </p:txBody>
      </p:sp>
      <p:sp>
        <p:nvSpPr>
          <p:cNvPr id="14" name="Text 11"/>
          <p:cNvSpPr txBox="1"/>
          <p:nvPr/>
        </p:nvSpPr>
        <p:spPr>
          <a:xfrm>
            <a:off x="4617720" y="5074920"/>
            <a:ext cx="2926080" cy="502920"/>
          </a:xfrm>
          <a:prstGeom prst="rect">
            <a:avLst/>
          </a:prstGeom>
          <a:noFill/>
          <a:ln/>
        </p:spPr>
        <p:txBody>
          <a:bodyPr wrap="square" lIns="0" tIns="0" rIns="0" bIns="0" rtlCol="0" anchor="t"/>
          <a:lstStyle/>
          <a:p>
            <a:pPr indent="0" marL="0">
              <a:buNone/>
            </a:pPr>
            <a:r>
              <a:rPr lang="en-US" sz="1300" dirty="0">
                <a:solidFill>
                  <a:srgbClr val="CFE3E1"/>
                </a:solidFill>
                <a:latin typeface="Calibri" pitchFamily="34" charset="0"/>
                <a:ea typeface="Calibri" pitchFamily="34" charset="-122"/>
                <a:cs typeface="Calibri" pitchFamily="34" charset="-120"/>
              </a:rPr>
              <a:t>1.22 → 2.49 images/s</a:t>
            </a:r>
            <a:endParaRPr lang="en-US" sz="1300" dirty="0"/>
          </a:p>
        </p:txBody>
      </p:sp>
      <p:sp>
        <p:nvSpPr>
          <p:cNvPr id="15" name="Shape 12"/>
          <p:cNvSpPr/>
          <p:nvPr/>
        </p:nvSpPr>
        <p:spPr>
          <a:xfrm>
            <a:off x="8046720" y="3429000"/>
            <a:ext cx="3429000" cy="2331720"/>
          </a:xfrm>
          <a:prstGeom prst="roundRect">
            <a:avLst>
              <a:gd name="adj" fmla="val 4706"/>
            </a:avLst>
          </a:prstGeom>
          <a:solidFill>
            <a:srgbClr val="13303F"/>
          </a:solidFill>
          <a:ln w="12700">
            <a:solidFill>
              <a:srgbClr val="13303F"/>
            </a:solidFill>
            <a:prstDash val="solid"/>
          </a:ln>
        </p:spPr>
      </p:sp>
      <p:sp>
        <p:nvSpPr>
          <p:cNvPr id="16" name="Text 13"/>
          <p:cNvSpPr txBox="1"/>
          <p:nvPr/>
        </p:nvSpPr>
        <p:spPr>
          <a:xfrm>
            <a:off x="8321040" y="3657600"/>
            <a:ext cx="2926080" cy="86868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0 crashes</a:t>
            </a:r>
            <a:endParaRPr lang="en-US" sz="4000" dirty="0"/>
          </a:p>
        </p:txBody>
      </p:sp>
      <p:sp>
        <p:nvSpPr>
          <p:cNvPr id="17" name="Text 14"/>
          <p:cNvSpPr txBox="1"/>
          <p:nvPr/>
        </p:nvSpPr>
        <p:spPr>
          <a:xfrm>
            <a:off x="8321040" y="4572000"/>
            <a:ext cx="2926080" cy="5029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after fp16 loss scaling</a:t>
            </a:r>
            <a:endParaRPr lang="en-US" sz="1500" dirty="0"/>
          </a:p>
        </p:txBody>
      </p:sp>
      <p:sp>
        <p:nvSpPr>
          <p:cNvPr id="18" name="Text 15"/>
          <p:cNvSpPr txBox="1"/>
          <p:nvPr/>
        </p:nvSpPr>
        <p:spPr>
          <a:xfrm>
            <a:off x="8321040" y="5074920"/>
            <a:ext cx="2926080" cy="502920"/>
          </a:xfrm>
          <a:prstGeom prst="rect">
            <a:avLst/>
          </a:prstGeom>
          <a:noFill/>
          <a:ln/>
        </p:spPr>
        <p:txBody>
          <a:bodyPr wrap="square" lIns="0" tIns="0" rIns="0" bIns="0" rtlCol="0" anchor="t"/>
          <a:lstStyle/>
          <a:p>
            <a:pPr indent="0" marL="0">
              <a:buNone/>
            </a:pPr>
            <a:r>
              <a:rPr lang="en-US" sz="1300" dirty="0">
                <a:solidFill>
                  <a:srgbClr val="CFE3E1"/>
                </a:solidFill>
                <a:latin typeface="Calibri" pitchFamily="34" charset="0"/>
                <a:ea typeface="Calibri" pitchFamily="34" charset="-122"/>
                <a:cs typeface="Calibri" pitchFamily="34" charset="-120"/>
              </a:rPr>
              <a:t>4 of 2,533 steps skipped instead of a dead run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The task and how it is scored</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Long, position-aware captions for 512×512 aerial tiles, scored with BERT-BLEU₄</a:t>
            </a:r>
            <a:endParaRPr lang="en-US" sz="1500" dirty="0"/>
          </a:p>
        </p:txBody>
      </p:sp>
      <p:sp>
        <p:nvSpPr>
          <p:cNvPr id="4" name="Shape 2"/>
          <p:cNvSpPr/>
          <p:nvPr/>
        </p:nvSpPr>
        <p:spPr>
          <a:xfrm>
            <a:off x="548640" y="1691640"/>
            <a:ext cx="5120640" cy="1143000"/>
          </a:xfrm>
          <a:prstGeom prst="roundRect">
            <a:avLst>
              <a:gd name="adj" fmla="val 9600"/>
            </a:avLst>
          </a:prstGeom>
          <a:solidFill>
            <a:srgbClr val="E8F3F2"/>
          </a:solidFill>
          <a:ln w="12700">
            <a:solidFill>
              <a:srgbClr val="E8F3F2"/>
            </a:solidFill>
            <a:prstDash val="solid"/>
          </a:ln>
        </p:spPr>
      </p:sp>
      <p:sp>
        <p:nvSpPr>
          <p:cNvPr id="5" name="Text 3"/>
          <p:cNvSpPr txBox="1"/>
          <p:nvPr/>
        </p:nvSpPr>
        <p:spPr>
          <a:xfrm>
            <a:off x="777240" y="1801368"/>
            <a:ext cx="4663440" cy="548640"/>
          </a:xfrm>
          <a:prstGeom prst="rect">
            <a:avLst/>
          </a:prstGeom>
          <a:noFill/>
          <a:ln/>
        </p:spPr>
        <p:txBody>
          <a:bodyPr wrap="square" lIns="0" tIns="0" rIns="0" bIns="0" rtlCol="0" anchor="ctr"/>
          <a:lstStyle/>
          <a:p>
            <a:pPr indent="0" marL="0">
              <a:buNone/>
            </a:pPr>
            <a:r>
              <a:rPr lang="en-US" sz="2800" b="1" dirty="0">
                <a:solidFill>
                  <a:srgbClr val="0F6E74"/>
                </a:solidFill>
                <a:latin typeface="Cambria" pitchFamily="34" charset="0"/>
                <a:ea typeface="Cambria" pitchFamily="34" charset="-122"/>
                <a:cs typeface="Cambria" pitchFamily="34" charset="-120"/>
              </a:rPr>
              <a:t>20,264</a:t>
            </a:r>
            <a:endParaRPr lang="en-US" sz="2800" dirty="0"/>
          </a:p>
        </p:txBody>
      </p:sp>
      <p:sp>
        <p:nvSpPr>
          <p:cNvPr id="6" name="Text 4"/>
          <p:cNvSpPr txBox="1"/>
          <p:nvPr/>
        </p:nvSpPr>
        <p:spPr>
          <a:xfrm>
            <a:off x="777240" y="2350008"/>
            <a:ext cx="4663440" cy="411480"/>
          </a:xfrm>
          <a:prstGeom prst="rect">
            <a:avLst/>
          </a:prstGeom>
          <a:noFill/>
          <a:ln/>
        </p:spPr>
        <p:txBody>
          <a:bodyPr wrap="square" lIns="0" tIns="0" rIns="0" bIns="0" rtlCol="0" anchor="t"/>
          <a:lstStyle/>
          <a:p>
            <a:pPr indent="0" marL="0">
              <a:buNone/>
            </a:pPr>
            <a:r>
              <a:rPr lang="en-US" sz="1400" dirty="0">
                <a:solidFill>
                  <a:srgbClr val="1B2B34"/>
                </a:solidFill>
                <a:latin typeface="Calibri" pitchFamily="34" charset="0"/>
                <a:ea typeface="Calibri" pitchFamily="34" charset="-122"/>
                <a:cs typeface="Calibri" pitchFamily="34" charset="-120"/>
              </a:rPr>
              <a:t>training captions (VRSBench train, "[caption]" records)</a:t>
            </a:r>
            <a:endParaRPr lang="en-US" sz="1400" dirty="0"/>
          </a:p>
        </p:txBody>
      </p:sp>
      <p:sp>
        <p:nvSpPr>
          <p:cNvPr id="7" name="Shape 5"/>
          <p:cNvSpPr/>
          <p:nvPr/>
        </p:nvSpPr>
        <p:spPr>
          <a:xfrm>
            <a:off x="548640" y="3063240"/>
            <a:ext cx="5120640" cy="1143000"/>
          </a:xfrm>
          <a:prstGeom prst="roundRect">
            <a:avLst>
              <a:gd name="adj" fmla="val 9600"/>
            </a:avLst>
          </a:prstGeom>
          <a:solidFill>
            <a:srgbClr val="E8F3F2"/>
          </a:solidFill>
          <a:ln w="12700">
            <a:solidFill>
              <a:srgbClr val="E8F3F2"/>
            </a:solidFill>
            <a:prstDash val="solid"/>
          </a:ln>
        </p:spPr>
      </p:sp>
      <p:sp>
        <p:nvSpPr>
          <p:cNvPr id="8" name="Text 6"/>
          <p:cNvSpPr txBox="1"/>
          <p:nvPr/>
        </p:nvSpPr>
        <p:spPr>
          <a:xfrm>
            <a:off x="777240" y="3172968"/>
            <a:ext cx="4663440" cy="548640"/>
          </a:xfrm>
          <a:prstGeom prst="rect">
            <a:avLst/>
          </a:prstGeom>
          <a:noFill/>
          <a:ln/>
        </p:spPr>
        <p:txBody>
          <a:bodyPr wrap="square" lIns="0" tIns="0" rIns="0" bIns="0" rtlCol="0" anchor="ctr"/>
          <a:lstStyle/>
          <a:p>
            <a:pPr indent="0" marL="0">
              <a:buNone/>
            </a:pPr>
            <a:r>
              <a:rPr lang="en-US" sz="2800" b="1" dirty="0">
                <a:solidFill>
                  <a:srgbClr val="0F6E74"/>
                </a:solidFill>
                <a:latin typeface="Cambria" pitchFamily="34" charset="0"/>
                <a:ea typeface="Cambria" pitchFamily="34" charset="-122"/>
                <a:cs typeface="Cambria" pitchFamily="34" charset="-120"/>
              </a:rPr>
              <a:t>48 words</a:t>
            </a:r>
            <a:endParaRPr lang="en-US" sz="2800" dirty="0"/>
          </a:p>
        </p:txBody>
      </p:sp>
      <p:sp>
        <p:nvSpPr>
          <p:cNvPr id="9" name="Text 7"/>
          <p:cNvSpPr txBox="1"/>
          <p:nvPr/>
        </p:nvSpPr>
        <p:spPr>
          <a:xfrm>
            <a:off x="777240" y="3721608"/>
            <a:ext cx="4663440" cy="411480"/>
          </a:xfrm>
          <a:prstGeom prst="rect">
            <a:avLst/>
          </a:prstGeom>
          <a:noFill/>
          <a:ln/>
        </p:spPr>
        <p:txBody>
          <a:bodyPr wrap="square" lIns="0" tIns="0" rIns="0" bIns="0" rtlCol="0" anchor="t"/>
          <a:lstStyle/>
          <a:p>
            <a:pPr indent="0" marL="0">
              <a:buNone/>
            </a:pPr>
            <a:r>
              <a:rPr lang="en-US" sz="1400" dirty="0">
                <a:solidFill>
                  <a:srgbClr val="1B2B34"/>
                </a:solidFill>
                <a:latin typeface="Calibri" pitchFamily="34" charset="0"/>
                <a:ea typeface="Calibri" pitchFamily="34" charset="-122"/>
                <a:cs typeface="Calibri" pitchFamily="34" charset="-120"/>
              </a:rPr>
              <a:t>average reference caption: objects, counts and positions</a:t>
            </a:r>
            <a:endParaRPr lang="en-US" sz="1400" dirty="0"/>
          </a:p>
        </p:txBody>
      </p:sp>
      <p:sp>
        <p:nvSpPr>
          <p:cNvPr id="10" name="Shape 8"/>
          <p:cNvSpPr/>
          <p:nvPr/>
        </p:nvSpPr>
        <p:spPr>
          <a:xfrm>
            <a:off x="548640" y="4434840"/>
            <a:ext cx="5120640" cy="1143000"/>
          </a:xfrm>
          <a:prstGeom prst="roundRect">
            <a:avLst>
              <a:gd name="adj" fmla="val 9600"/>
            </a:avLst>
          </a:prstGeom>
          <a:solidFill>
            <a:srgbClr val="E8F3F2"/>
          </a:solidFill>
          <a:ln w="12700">
            <a:solidFill>
              <a:srgbClr val="E8F3F2"/>
            </a:solidFill>
            <a:prstDash val="solid"/>
          </a:ln>
        </p:spPr>
      </p:sp>
      <p:sp>
        <p:nvSpPr>
          <p:cNvPr id="11" name="Text 9"/>
          <p:cNvSpPr txBox="1"/>
          <p:nvPr/>
        </p:nvSpPr>
        <p:spPr>
          <a:xfrm>
            <a:off x="777240" y="4544568"/>
            <a:ext cx="4663440" cy="548640"/>
          </a:xfrm>
          <a:prstGeom prst="rect">
            <a:avLst/>
          </a:prstGeom>
          <a:noFill/>
          <a:ln/>
        </p:spPr>
        <p:txBody>
          <a:bodyPr wrap="square" lIns="0" tIns="0" rIns="0" bIns="0" rtlCol="0" anchor="ctr"/>
          <a:lstStyle/>
          <a:p>
            <a:pPr indent="0" marL="0">
              <a:buNone/>
            </a:pPr>
            <a:r>
              <a:rPr lang="en-US" sz="2800" b="1" dirty="0">
                <a:solidFill>
                  <a:srgbClr val="0F6E74"/>
                </a:solidFill>
                <a:latin typeface="Cambria" pitchFamily="34" charset="0"/>
                <a:ea typeface="Cambria" pitchFamily="34" charset="-122"/>
                <a:cs typeface="Cambria" pitchFamily="34" charset="-120"/>
              </a:rPr>
              <a:t>200 / 1,000</a:t>
            </a:r>
            <a:endParaRPr lang="en-US" sz="2800" dirty="0"/>
          </a:p>
        </p:txBody>
      </p:sp>
      <p:sp>
        <p:nvSpPr>
          <p:cNvPr id="12" name="Text 10"/>
          <p:cNvSpPr txBox="1"/>
          <p:nvPr/>
        </p:nvSpPr>
        <p:spPr>
          <a:xfrm>
            <a:off x="777240" y="5093208"/>
            <a:ext cx="4663440" cy="411480"/>
          </a:xfrm>
          <a:prstGeom prst="rect">
            <a:avLst/>
          </a:prstGeom>
          <a:noFill/>
          <a:ln/>
        </p:spPr>
        <p:txBody>
          <a:bodyPr wrap="square" lIns="0" tIns="0" rIns="0" bIns="0" rtlCol="0" anchor="t"/>
          <a:lstStyle/>
          <a:p>
            <a:pPr indent="0" marL="0">
              <a:buNone/>
            </a:pPr>
            <a:r>
              <a:rPr lang="en-US" sz="1400" dirty="0">
                <a:solidFill>
                  <a:srgbClr val="1B2B34"/>
                </a:solidFill>
                <a:latin typeface="Calibri" pitchFamily="34" charset="0"/>
                <a:ea typeface="Calibri" pitchFamily="34" charset="-122"/>
                <a:cs typeface="Calibri" pitchFamily="34" charset="-120"/>
              </a:rPr>
              <a:t>validation images for decisions / disjoint test images for the final verdict</a:t>
            </a:r>
            <a:endParaRPr lang="en-US" sz="1400" dirty="0"/>
          </a:p>
        </p:txBody>
      </p:sp>
      <p:sp>
        <p:nvSpPr>
          <p:cNvPr id="13" name="Shape 11"/>
          <p:cNvSpPr/>
          <p:nvPr/>
        </p:nvSpPr>
        <p:spPr>
          <a:xfrm>
            <a:off x="6035040" y="1691640"/>
            <a:ext cx="5577840" cy="3886200"/>
          </a:xfrm>
          <a:prstGeom prst="roundRect">
            <a:avLst>
              <a:gd name="adj" fmla="val 2824"/>
            </a:avLst>
          </a:prstGeom>
          <a:solidFill>
            <a:srgbClr val="FBF0DC"/>
          </a:solidFill>
          <a:ln w="12700">
            <a:solidFill>
              <a:srgbClr val="FBF0DC"/>
            </a:solidFill>
            <a:prstDash val="solid"/>
          </a:ln>
        </p:spPr>
      </p:sp>
      <p:sp>
        <p:nvSpPr>
          <p:cNvPr id="14" name="Text 12"/>
          <p:cNvSpPr txBox="1"/>
          <p:nvPr/>
        </p:nvSpPr>
        <p:spPr>
          <a:xfrm>
            <a:off x="6309360" y="1874520"/>
            <a:ext cx="5029200" cy="457200"/>
          </a:xfrm>
          <a:prstGeom prst="rect">
            <a:avLst/>
          </a:prstGeom>
          <a:noFill/>
          <a:ln/>
        </p:spPr>
        <p:txBody>
          <a:bodyPr wrap="square" lIns="0" tIns="0" rIns="0" bIns="0" rtlCol="0" anchor="t"/>
          <a:lstStyle/>
          <a:p>
            <a:pPr indent="0" marL="0">
              <a:buNone/>
            </a:pPr>
            <a:r>
              <a:rPr lang="en-US" sz="2200" b="1" dirty="0">
                <a:solidFill>
                  <a:srgbClr val="1B2B34"/>
                </a:solidFill>
                <a:latin typeface="Cambria" pitchFamily="34" charset="0"/>
                <a:ea typeface="Cambria" pitchFamily="34" charset="-122"/>
                <a:cs typeface="Cambria" pitchFamily="34" charset="-120"/>
              </a:rPr>
              <a:t>BERT-BLEU₄</a:t>
            </a:r>
            <a:endParaRPr lang="en-US" sz="2200" dirty="0"/>
          </a:p>
        </p:txBody>
      </p:sp>
      <p:sp>
        <p:nvSpPr>
          <p:cNvPr id="15" name="Text 13"/>
          <p:cNvSpPr txBox="1"/>
          <p:nvPr/>
        </p:nvSpPr>
        <p:spPr>
          <a:xfrm>
            <a:off x="6309360" y="2377440"/>
            <a:ext cx="5029200" cy="457200"/>
          </a:xfrm>
          <a:prstGeom prst="rect">
            <a:avLst/>
          </a:prstGeom>
          <a:noFill/>
          <a:ln/>
        </p:spPr>
        <p:txBody>
          <a:bodyPr wrap="square" lIns="0" tIns="0" rIns="0" bIns="0" rtlCol="0" anchor="t"/>
          <a:lstStyle/>
          <a:p>
            <a:pPr indent="0" marL="0">
              <a:buNone/>
            </a:pPr>
            <a:r>
              <a:rPr lang="en-US" sz="2000" b="1" dirty="0">
                <a:solidFill>
                  <a:srgbClr val="0F6E74"/>
                </a:solidFill>
                <a:latin typeface="Cambria Math" pitchFamily="34" charset="0"/>
                <a:ea typeface="Cambria Math" pitchFamily="34" charset="-122"/>
                <a:cs typeface="Cambria Math" pitchFamily="34" charset="-120"/>
              </a:rPr>
              <a:t>LP · exp( ¼ Σₙ log Pₙ ),   n = 1…4</a:t>
            </a:r>
            <a:endParaRPr lang="en-US" sz="2000" dirty="0"/>
          </a:p>
        </p:txBody>
      </p:sp>
      <p:sp>
        <p:nvSpPr>
          <p:cNvPr id="16" name="Text 14"/>
          <p:cNvSpPr txBox="1"/>
          <p:nvPr/>
        </p:nvSpPr>
        <p:spPr>
          <a:xfrm>
            <a:off x="6309360" y="2971800"/>
            <a:ext cx="5029200" cy="2468880"/>
          </a:xfrm>
          <a:prstGeom prst="rect">
            <a:avLst/>
          </a:prstGeom>
          <a:noFill/>
          <a:ln/>
        </p:spPr>
        <p:txBody>
          <a:bodyPr wrap="square" lIns="0" tIns="0" rIns="0" bIns="0" rtlCol="0" anchor="t"/>
          <a:lstStyle/>
          <a:p>
            <a:pPr indent="0" marL="0">
              <a:spcAft>
                <a:spcPts val="800"/>
              </a:spcAft>
              <a:buNone/>
            </a:pPr>
            <a:r>
              <a:rPr lang="en-US" sz="1400" b="1" dirty="0">
                <a:solidFill>
                  <a:srgbClr val="1B2B34"/>
                </a:solidFill>
                <a:latin typeface="Calibri" pitchFamily="34" charset="0"/>
                <a:ea typeface="Calibri" pitchFamily="34" charset="-122"/>
                <a:cs typeface="Calibri" pitchFamily="34" charset="-120"/>
              </a:rPr>
              <a:t>Pₙ: </a:t>
            </a:r>
            <a:pPr indent="0" marL="0">
              <a:spcAft>
                <a:spcPts val="800"/>
              </a:spcAft>
              <a:buNone/>
            </a:pPr>
            <a:r>
              <a:rPr lang="en-US" sz="1400" dirty="0">
                <a:solidFill>
                  <a:srgbClr val="1B2B34"/>
                </a:solidFill>
                <a:latin typeface="Calibri" pitchFamily="34" charset="0"/>
                <a:ea typeface="Calibri" pitchFamily="34" charset="-122"/>
                <a:cs typeface="Calibri" pitchFamily="34" charset="-120"/>
              </a:rPr>
              <a:t>semantic n-gram recall. Every reference n-gram takes its best BERT cosine match in the caption.</a:t>
            </a:r>
            <a:endParaRPr lang="en-US" sz="1400" dirty="0"/>
          </a:p>
          <a:p>
            <a:pPr indent="0" marL="0">
              <a:spcAft>
                <a:spcPts val="800"/>
              </a:spcAft>
              <a:buNone/>
            </a:pPr>
            <a:r>
              <a:rPr lang="en-US" sz="1400" b="1" dirty="0">
                <a:solidFill>
                  <a:srgbClr val="1B2B34"/>
                </a:solidFill>
                <a:latin typeface="Calibri" pitchFamily="34" charset="0"/>
                <a:ea typeface="Calibri" pitchFamily="34" charset="-122"/>
                <a:cs typeface="Calibri" pitchFamily="34" charset="-120"/>
              </a:rPr>
              <a:t>LP = exp(−0.5 · |L_C − L_R| / L_R): </a:t>
            </a:r>
            <a:pPr indent="0" marL="0">
              <a:spcAft>
                <a:spcPts val="800"/>
              </a:spcAft>
              <a:buNone/>
            </a:pPr>
            <a:r>
              <a:rPr lang="en-US" sz="1400" dirty="0">
                <a:solidFill>
                  <a:srgbClr val="1B2B34"/>
                </a:solidFill>
                <a:latin typeface="Calibri" pitchFamily="34" charset="0"/>
                <a:ea typeface="Calibri" pitchFamily="34" charset="-122"/>
                <a:cs typeface="Calibri" pitchFamily="34" charset="-120"/>
              </a:rPr>
              <a:t>penalises captions that are too long and too short.</a:t>
            </a:r>
            <a:endParaRPr lang="en-US" sz="1400" dirty="0"/>
          </a:p>
          <a:p>
            <a:pPr indent="0" marL="0">
              <a:spcAft>
                <a:spcPts val="800"/>
              </a:spcAft>
              <a:buNone/>
            </a:pPr>
            <a:r>
              <a:rPr lang="en-US" sz="1400" b="1" dirty="0">
                <a:solidFill>
                  <a:srgbClr val="1B2B34"/>
                </a:solidFill>
                <a:latin typeface="Calibri" pitchFamily="34" charset="0"/>
                <a:ea typeface="Calibri" pitchFamily="34" charset="-122"/>
                <a:cs typeface="Calibri" pitchFamily="34" charset="-120"/>
              </a:rPr>
              <a:t>Sensitivity: </a:t>
            </a:r>
            <a:pPr indent="0" marL="0">
              <a:spcAft>
                <a:spcPts val="800"/>
              </a:spcAft>
              <a:buNone/>
            </a:pPr>
            <a:r>
              <a:rPr lang="en-US" sz="1400" dirty="0">
                <a:solidFill>
                  <a:srgbClr val="1B2B34"/>
                </a:solidFill>
                <a:latin typeface="Calibri" pitchFamily="34" charset="0"/>
                <a:ea typeface="Calibri" pitchFamily="34" charset="-122"/>
                <a:cs typeface="Calibri" pitchFamily="34" charset="-120"/>
              </a:rPr>
              <a:t>one word of length error ≈ 1% of the score.</a:t>
            </a:r>
            <a:endParaRPr lang="en-US" sz="1400" dirty="0"/>
          </a:p>
          <a:p>
            <a:pPr indent="0" marL="0">
              <a:spcAft>
                <a:spcPts val="800"/>
              </a:spcAft>
              <a:buNone/>
            </a:pPr>
            <a:r>
              <a:rPr lang="en-US" sz="1400" b="1" dirty="0">
                <a:solidFill>
                  <a:srgbClr val="1B2B34"/>
                </a:solidFill>
                <a:latin typeface="Calibri" pitchFamily="34" charset="0"/>
                <a:ea typeface="Calibri" pitchFamily="34" charset="-122"/>
                <a:cs typeface="Calibri" pitchFamily="34" charset="-120"/>
              </a:rPr>
              <a:t>High floor: </a:t>
            </a:r>
            <a:pPr indent="0" marL="0">
              <a:spcAft>
                <a:spcPts val="800"/>
              </a:spcAft>
              <a:buNone/>
            </a:pPr>
            <a:r>
              <a:rPr lang="en-US" sz="1400" dirty="0">
                <a:solidFill>
                  <a:srgbClr val="1B2B34"/>
                </a:solidFill>
                <a:latin typeface="Calibri" pitchFamily="34" charset="0"/>
                <a:ea typeface="Calibri" pitchFamily="34" charset="-122"/>
                <a:cs typeface="Calibri" pitchFamily="34" charset="-120"/>
              </a:rPr>
              <a:t>zero-shot model 0.40, random tokens 0.29–0.49. Differences of 0.01 matter.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Model: Qwen2.5-VL-3B with LoRA adapters</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A native-resolution vision encoder feeding a 3B language model; only 0.2–0.3% of the weights are trained</a:t>
            </a:r>
            <a:endParaRPr lang="en-US" sz="1500" dirty="0"/>
          </a:p>
        </p:txBody>
      </p:sp>
      <p:sp>
        <p:nvSpPr>
          <p:cNvPr id="4" name="Shape 2"/>
          <p:cNvSpPr/>
          <p:nvPr/>
        </p:nvSpPr>
        <p:spPr>
          <a:xfrm>
            <a:off x="548640" y="1783080"/>
            <a:ext cx="2011680" cy="1783080"/>
          </a:xfrm>
          <a:prstGeom prst="roundRect">
            <a:avLst>
              <a:gd name="adj" fmla="val 6154"/>
            </a:avLst>
          </a:prstGeom>
          <a:solidFill>
            <a:srgbClr val="F2F5F5"/>
          </a:solidFill>
          <a:ln w="12700">
            <a:solidFill>
              <a:srgbClr val="F2F5F5"/>
            </a:solidFill>
            <a:prstDash val="solid"/>
          </a:ln>
        </p:spPr>
      </p:sp>
      <p:sp>
        <p:nvSpPr>
          <p:cNvPr id="5" name="Text 3"/>
          <p:cNvSpPr txBox="1"/>
          <p:nvPr/>
        </p:nvSpPr>
        <p:spPr>
          <a:xfrm>
            <a:off x="685800" y="1920240"/>
            <a:ext cx="1737360" cy="411480"/>
          </a:xfrm>
          <a:prstGeom prst="rect">
            <a:avLst/>
          </a:prstGeom>
          <a:noFill/>
          <a:ln/>
        </p:spPr>
        <p:txBody>
          <a:bodyPr wrap="square" lIns="0" tIns="0" rIns="0" bIns="0" rtlCol="0" anchor="t"/>
          <a:lstStyle/>
          <a:p>
            <a:pPr indent="0" marL="0">
              <a:buNone/>
            </a:pPr>
            <a:r>
              <a:rPr lang="en-US" sz="1500" b="1" dirty="0">
                <a:solidFill>
                  <a:srgbClr val="0F6E74"/>
                </a:solidFill>
                <a:latin typeface="Calibri" pitchFamily="34" charset="0"/>
                <a:ea typeface="Calibri" pitchFamily="34" charset="-122"/>
                <a:cs typeface="Calibri" pitchFamily="34" charset="-120"/>
              </a:rPr>
              <a:t>512×512 tile</a:t>
            </a:r>
            <a:endParaRPr lang="en-US" sz="1500" dirty="0"/>
          </a:p>
        </p:txBody>
      </p:sp>
      <p:sp>
        <p:nvSpPr>
          <p:cNvPr id="6" name="Text 4"/>
          <p:cNvSpPr txBox="1"/>
          <p:nvPr/>
        </p:nvSpPr>
        <p:spPr>
          <a:xfrm>
            <a:off x="685800" y="2377440"/>
            <a:ext cx="1737360" cy="1097280"/>
          </a:xfrm>
          <a:prstGeom prst="rect">
            <a:avLst/>
          </a:prstGeom>
          <a:noFill/>
          <a:ln/>
        </p:spPr>
        <p:txBody>
          <a:bodyPr wrap="square" lIns="0" tIns="0" rIns="0" bIns="0" rtlCol="0" anchor="t"/>
          <a:lstStyle/>
          <a:p>
            <a:pPr indent="0" marL="0">
              <a:buNone/>
            </a:pPr>
            <a:r>
              <a:rPr lang="en-US" sz="1250" dirty="0">
                <a:solidFill>
                  <a:srgbClr val="1B2B34"/>
                </a:solidFill>
                <a:latin typeface="Calibri" pitchFamily="34" charset="0"/>
                <a:ea typeface="Calibri" pitchFamily="34" charset="-122"/>
                <a:cs typeface="Calibri" pitchFamily="34" charset="-120"/>
              </a:rPr>
              <a:t>resized to 448×448</a:t>
            </a:r>
            <a:endParaRPr lang="en-US" sz="1250" dirty="0"/>
          </a:p>
          <a:p>
            <a:pPr indent="0" marL="0">
              <a:buNone/>
            </a:pPr>
            <a:r>
              <a:rPr lang="en-US" sz="1250" dirty="0">
                <a:solidFill>
                  <a:srgbClr val="1B2B34"/>
                </a:solidFill>
                <a:latin typeface="Calibri" pitchFamily="34" charset="0"/>
                <a:ea typeface="Calibri" pitchFamily="34" charset="-122"/>
                <a:cs typeface="Calibri" pitchFamily="34" charset="-120"/>
              </a:rPr>
              <a:t>(28-pixel grid)</a:t>
            </a:r>
            <a:endParaRPr lang="en-US" sz="1250" dirty="0"/>
          </a:p>
        </p:txBody>
      </p:sp>
      <p:sp>
        <p:nvSpPr>
          <p:cNvPr id="7" name="Shape 5"/>
          <p:cNvSpPr/>
          <p:nvPr/>
        </p:nvSpPr>
        <p:spPr>
          <a:xfrm>
            <a:off x="2596896" y="2532888"/>
            <a:ext cx="182880" cy="274320"/>
          </a:xfrm>
          <a:prstGeom prst="rightArrow">
            <a:avLst/>
          </a:prstGeom>
          <a:solidFill>
            <a:srgbClr val="E8A33D"/>
          </a:solidFill>
          <a:ln w="12700">
            <a:solidFill>
              <a:srgbClr val="E8A33D"/>
            </a:solidFill>
            <a:prstDash val="solid"/>
          </a:ln>
        </p:spPr>
      </p:sp>
      <p:sp>
        <p:nvSpPr>
          <p:cNvPr id="8" name="Shape 6"/>
          <p:cNvSpPr/>
          <p:nvPr/>
        </p:nvSpPr>
        <p:spPr>
          <a:xfrm>
            <a:off x="2816352" y="1783080"/>
            <a:ext cx="2011680" cy="1783080"/>
          </a:xfrm>
          <a:prstGeom prst="roundRect">
            <a:avLst>
              <a:gd name="adj" fmla="val 6154"/>
            </a:avLst>
          </a:prstGeom>
          <a:solidFill>
            <a:srgbClr val="E8F3F2"/>
          </a:solidFill>
          <a:ln w="12700">
            <a:solidFill>
              <a:srgbClr val="E8F3F2"/>
            </a:solidFill>
            <a:prstDash val="solid"/>
          </a:ln>
        </p:spPr>
      </p:sp>
      <p:sp>
        <p:nvSpPr>
          <p:cNvPr id="9" name="Text 7"/>
          <p:cNvSpPr txBox="1"/>
          <p:nvPr/>
        </p:nvSpPr>
        <p:spPr>
          <a:xfrm>
            <a:off x="2953512" y="1920240"/>
            <a:ext cx="1737360" cy="411480"/>
          </a:xfrm>
          <a:prstGeom prst="rect">
            <a:avLst/>
          </a:prstGeom>
          <a:noFill/>
          <a:ln/>
        </p:spPr>
        <p:txBody>
          <a:bodyPr wrap="square" lIns="0" tIns="0" rIns="0" bIns="0" rtlCol="0" anchor="t"/>
          <a:lstStyle/>
          <a:p>
            <a:pPr indent="0" marL="0">
              <a:buNone/>
            </a:pPr>
            <a:r>
              <a:rPr lang="en-US" sz="1500" b="1" dirty="0">
                <a:solidFill>
                  <a:srgbClr val="0F6E74"/>
                </a:solidFill>
                <a:latin typeface="Calibri" pitchFamily="34" charset="0"/>
                <a:ea typeface="Calibri" pitchFamily="34" charset="-122"/>
                <a:cs typeface="Calibri" pitchFamily="34" charset="-120"/>
              </a:rPr>
              <a:t>ViT · 32 layers</a:t>
            </a:r>
            <a:endParaRPr lang="en-US" sz="1500" dirty="0"/>
          </a:p>
        </p:txBody>
      </p:sp>
      <p:sp>
        <p:nvSpPr>
          <p:cNvPr id="10" name="Text 8"/>
          <p:cNvSpPr txBox="1"/>
          <p:nvPr/>
        </p:nvSpPr>
        <p:spPr>
          <a:xfrm>
            <a:off x="2953512" y="2377440"/>
            <a:ext cx="1737360" cy="1097280"/>
          </a:xfrm>
          <a:prstGeom prst="rect">
            <a:avLst/>
          </a:prstGeom>
          <a:noFill/>
          <a:ln/>
        </p:spPr>
        <p:txBody>
          <a:bodyPr wrap="square" lIns="0" tIns="0" rIns="0" bIns="0" rtlCol="0" anchor="t"/>
          <a:lstStyle/>
          <a:p>
            <a:pPr indent="0" marL="0">
              <a:buNone/>
            </a:pPr>
            <a:r>
              <a:rPr lang="en-US" sz="1250" dirty="0">
                <a:solidFill>
                  <a:srgbClr val="1B2B34"/>
                </a:solidFill>
                <a:latin typeface="Calibri" pitchFamily="34" charset="0"/>
                <a:ea typeface="Calibri" pitchFamily="34" charset="-122"/>
                <a:cs typeface="Calibri" pitchFamily="34" charset="-120"/>
              </a:rPr>
              <a:t>1,024 patches of 14 px</a:t>
            </a:r>
            <a:endParaRPr lang="en-US" sz="1250" dirty="0"/>
          </a:p>
          <a:p>
            <a:pPr indent="0" marL="0">
              <a:buNone/>
            </a:pPr>
            <a:r>
              <a:rPr lang="en-US" sz="1250" dirty="0">
                <a:solidFill>
                  <a:srgbClr val="1B2B34"/>
                </a:solidFill>
                <a:latin typeface="Calibri" pitchFamily="34" charset="0"/>
                <a:ea typeface="Calibri" pitchFamily="34" charset="-122"/>
                <a:cs typeface="Calibri" pitchFamily="34" charset="-120"/>
              </a:rPr>
              <a:t>28 window + 4 global</a:t>
            </a:r>
            <a:endParaRPr lang="en-US" sz="1250" dirty="0"/>
          </a:p>
          <a:p>
            <a:pPr indent="0" marL="0">
              <a:buNone/>
            </a:pPr>
            <a:r>
              <a:rPr lang="en-US" sz="1250" dirty="0">
                <a:solidFill>
                  <a:srgbClr val="1B2B34"/>
                </a:solidFill>
                <a:latin typeface="Calibri" pitchFamily="34" charset="0"/>
                <a:ea typeface="Calibri" pitchFamily="34" charset="-122"/>
                <a:cs typeface="Calibri" pitchFamily="34" charset="-120"/>
              </a:rPr>
              <a:t>LoRA on qkv / proj</a:t>
            </a:r>
            <a:endParaRPr lang="en-US" sz="1250" dirty="0"/>
          </a:p>
        </p:txBody>
      </p:sp>
      <p:sp>
        <p:nvSpPr>
          <p:cNvPr id="11" name="Shape 9"/>
          <p:cNvSpPr/>
          <p:nvPr/>
        </p:nvSpPr>
        <p:spPr>
          <a:xfrm>
            <a:off x="4864608" y="2532888"/>
            <a:ext cx="182880" cy="274320"/>
          </a:xfrm>
          <a:prstGeom prst="rightArrow">
            <a:avLst/>
          </a:prstGeom>
          <a:solidFill>
            <a:srgbClr val="E8A33D"/>
          </a:solidFill>
          <a:ln w="12700">
            <a:solidFill>
              <a:srgbClr val="E8A33D"/>
            </a:solidFill>
            <a:prstDash val="solid"/>
          </a:ln>
        </p:spPr>
      </p:sp>
      <p:sp>
        <p:nvSpPr>
          <p:cNvPr id="12" name="Shape 10"/>
          <p:cNvSpPr/>
          <p:nvPr/>
        </p:nvSpPr>
        <p:spPr>
          <a:xfrm>
            <a:off x="5084064" y="1783080"/>
            <a:ext cx="2011680" cy="1783080"/>
          </a:xfrm>
          <a:prstGeom prst="roundRect">
            <a:avLst>
              <a:gd name="adj" fmla="val 6154"/>
            </a:avLst>
          </a:prstGeom>
          <a:solidFill>
            <a:srgbClr val="F2F5F5"/>
          </a:solidFill>
          <a:ln w="12700">
            <a:solidFill>
              <a:srgbClr val="F2F5F5"/>
            </a:solidFill>
            <a:prstDash val="solid"/>
          </a:ln>
        </p:spPr>
      </p:sp>
      <p:sp>
        <p:nvSpPr>
          <p:cNvPr id="13" name="Text 11"/>
          <p:cNvSpPr txBox="1"/>
          <p:nvPr/>
        </p:nvSpPr>
        <p:spPr>
          <a:xfrm>
            <a:off x="5221224" y="1920240"/>
            <a:ext cx="1737360" cy="411480"/>
          </a:xfrm>
          <a:prstGeom prst="rect">
            <a:avLst/>
          </a:prstGeom>
          <a:noFill/>
          <a:ln/>
        </p:spPr>
        <p:txBody>
          <a:bodyPr wrap="square" lIns="0" tIns="0" rIns="0" bIns="0" rtlCol="0" anchor="t"/>
          <a:lstStyle/>
          <a:p>
            <a:pPr indent="0" marL="0">
              <a:buNone/>
            </a:pPr>
            <a:r>
              <a:rPr lang="en-US" sz="1500" b="1" dirty="0">
                <a:solidFill>
                  <a:srgbClr val="0F6E74"/>
                </a:solidFill>
                <a:latin typeface="Calibri" pitchFamily="34" charset="0"/>
                <a:ea typeface="Calibri" pitchFamily="34" charset="-122"/>
                <a:cs typeface="Calibri" pitchFamily="34" charset="-120"/>
              </a:rPr>
              <a:t>2×2 merger</a:t>
            </a:r>
            <a:endParaRPr lang="en-US" sz="1500" dirty="0"/>
          </a:p>
        </p:txBody>
      </p:sp>
      <p:sp>
        <p:nvSpPr>
          <p:cNvPr id="14" name="Text 12"/>
          <p:cNvSpPr txBox="1"/>
          <p:nvPr/>
        </p:nvSpPr>
        <p:spPr>
          <a:xfrm>
            <a:off x="5221224" y="2377440"/>
            <a:ext cx="1737360" cy="1097280"/>
          </a:xfrm>
          <a:prstGeom prst="rect">
            <a:avLst/>
          </a:prstGeom>
          <a:noFill/>
          <a:ln/>
        </p:spPr>
        <p:txBody>
          <a:bodyPr wrap="square" lIns="0" tIns="0" rIns="0" bIns="0" rtlCol="0" anchor="t"/>
          <a:lstStyle/>
          <a:p>
            <a:pPr indent="0" marL="0">
              <a:buNone/>
            </a:pPr>
            <a:r>
              <a:rPr lang="en-US" sz="1250" dirty="0">
                <a:solidFill>
                  <a:srgbClr val="1B2B34"/>
                </a:solidFill>
                <a:latin typeface="Calibri" pitchFamily="34" charset="0"/>
                <a:ea typeface="Calibri" pitchFamily="34" charset="-122"/>
                <a:cs typeface="Calibri" pitchFamily="34" charset="-120"/>
              </a:rPr>
              <a:t>MLP 5120 → 2048</a:t>
            </a:r>
            <a:endParaRPr lang="en-US" sz="1250" dirty="0"/>
          </a:p>
          <a:p>
            <a:pPr indent="0" marL="0">
              <a:buNone/>
            </a:pPr>
            <a:r>
              <a:rPr lang="en-US" sz="1250" dirty="0">
                <a:solidFill>
                  <a:srgbClr val="1B2B34"/>
                </a:solidFill>
                <a:latin typeface="Calibri" pitchFamily="34" charset="0"/>
                <a:ea typeface="Calibri" pitchFamily="34" charset="-122"/>
                <a:cs typeface="Calibri" pitchFamily="34" charset="-120"/>
              </a:rPr>
              <a:t>256 visual tokens</a:t>
            </a:r>
            <a:endParaRPr lang="en-US" sz="1250" dirty="0"/>
          </a:p>
        </p:txBody>
      </p:sp>
      <p:sp>
        <p:nvSpPr>
          <p:cNvPr id="15" name="Shape 13"/>
          <p:cNvSpPr/>
          <p:nvPr/>
        </p:nvSpPr>
        <p:spPr>
          <a:xfrm>
            <a:off x="7132320" y="2532888"/>
            <a:ext cx="182880" cy="274320"/>
          </a:xfrm>
          <a:prstGeom prst="rightArrow">
            <a:avLst/>
          </a:prstGeom>
          <a:solidFill>
            <a:srgbClr val="E8A33D"/>
          </a:solidFill>
          <a:ln w="12700">
            <a:solidFill>
              <a:srgbClr val="E8A33D"/>
            </a:solidFill>
            <a:prstDash val="solid"/>
          </a:ln>
        </p:spPr>
      </p:sp>
      <p:sp>
        <p:nvSpPr>
          <p:cNvPr id="16" name="Shape 14"/>
          <p:cNvSpPr/>
          <p:nvPr/>
        </p:nvSpPr>
        <p:spPr>
          <a:xfrm>
            <a:off x="7351776" y="1783080"/>
            <a:ext cx="2011680" cy="1783080"/>
          </a:xfrm>
          <a:prstGeom prst="roundRect">
            <a:avLst>
              <a:gd name="adj" fmla="val 6154"/>
            </a:avLst>
          </a:prstGeom>
          <a:solidFill>
            <a:srgbClr val="E8F3F2"/>
          </a:solidFill>
          <a:ln w="12700">
            <a:solidFill>
              <a:srgbClr val="E8F3F2"/>
            </a:solidFill>
            <a:prstDash val="solid"/>
          </a:ln>
        </p:spPr>
      </p:sp>
      <p:sp>
        <p:nvSpPr>
          <p:cNvPr id="17" name="Text 15"/>
          <p:cNvSpPr txBox="1"/>
          <p:nvPr/>
        </p:nvSpPr>
        <p:spPr>
          <a:xfrm>
            <a:off x="7488936" y="1920240"/>
            <a:ext cx="1737360" cy="411480"/>
          </a:xfrm>
          <a:prstGeom prst="rect">
            <a:avLst/>
          </a:prstGeom>
          <a:noFill/>
          <a:ln/>
        </p:spPr>
        <p:txBody>
          <a:bodyPr wrap="square" lIns="0" tIns="0" rIns="0" bIns="0" rtlCol="0" anchor="t"/>
          <a:lstStyle/>
          <a:p>
            <a:pPr indent="0" marL="0">
              <a:buNone/>
            </a:pPr>
            <a:r>
              <a:rPr lang="en-US" sz="1500" b="1" dirty="0">
                <a:solidFill>
                  <a:srgbClr val="0F6E74"/>
                </a:solidFill>
                <a:latin typeface="Calibri" pitchFamily="34" charset="0"/>
                <a:ea typeface="Calibri" pitchFamily="34" charset="-122"/>
                <a:cs typeface="Calibri" pitchFamily="34" charset="-120"/>
              </a:rPr>
              <a:t>Qwen2.5-3B LLM</a:t>
            </a:r>
            <a:endParaRPr lang="en-US" sz="1500" dirty="0"/>
          </a:p>
        </p:txBody>
      </p:sp>
      <p:sp>
        <p:nvSpPr>
          <p:cNvPr id="18" name="Text 16"/>
          <p:cNvSpPr txBox="1"/>
          <p:nvPr/>
        </p:nvSpPr>
        <p:spPr>
          <a:xfrm>
            <a:off x="7488936" y="2377440"/>
            <a:ext cx="1737360" cy="1097280"/>
          </a:xfrm>
          <a:prstGeom prst="rect">
            <a:avLst/>
          </a:prstGeom>
          <a:noFill/>
          <a:ln/>
        </p:spPr>
        <p:txBody>
          <a:bodyPr wrap="square" lIns="0" tIns="0" rIns="0" bIns="0" rtlCol="0" anchor="t"/>
          <a:lstStyle/>
          <a:p>
            <a:pPr indent="0" marL="0">
              <a:buNone/>
            </a:pPr>
            <a:r>
              <a:rPr lang="en-US" sz="1250" dirty="0">
                <a:solidFill>
                  <a:srgbClr val="1B2B34"/>
                </a:solidFill>
                <a:latin typeface="Calibri" pitchFamily="34" charset="0"/>
                <a:ea typeface="Calibri" pitchFamily="34" charset="-122"/>
                <a:cs typeface="Calibri" pitchFamily="34" charset="-120"/>
              </a:rPr>
              <a:t>36 layers, GQA 16 / 2</a:t>
            </a:r>
            <a:endParaRPr lang="en-US" sz="1250" dirty="0"/>
          </a:p>
          <a:p>
            <a:pPr indent="0" marL="0">
              <a:buNone/>
            </a:pPr>
            <a:r>
              <a:rPr lang="en-US" sz="1250" dirty="0">
                <a:solidFill>
                  <a:srgbClr val="1B2B34"/>
                </a:solidFill>
                <a:latin typeface="Calibri" pitchFamily="34" charset="0"/>
                <a:ea typeface="Calibri" pitchFamily="34" charset="-122"/>
                <a:cs typeface="Calibri" pitchFamily="34" charset="-120"/>
              </a:rPr>
              <a:t>multimodal RoPE</a:t>
            </a:r>
            <a:endParaRPr lang="en-US" sz="1250" dirty="0"/>
          </a:p>
          <a:p>
            <a:pPr indent="0" marL="0">
              <a:buNone/>
            </a:pPr>
            <a:r>
              <a:rPr lang="en-US" sz="1250" dirty="0">
                <a:solidFill>
                  <a:srgbClr val="1B2B34"/>
                </a:solidFill>
                <a:latin typeface="Calibri" pitchFamily="34" charset="0"/>
                <a:ea typeface="Calibri" pitchFamily="34" charset="-122"/>
                <a:cs typeface="Calibri" pitchFamily="34" charset="-120"/>
              </a:rPr>
              <a:t>LoRA on q / k / v / o</a:t>
            </a:r>
            <a:endParaRPr lang="en-US" sz="1250" dirty="0"/>
          </a:p>
        </p:txBody>
      </p:sp>
      <p:sp>
        <p:nvSpPr>
          <p:cNvPr id="19" name="Shape 17"/>
          <p:cNvSpPr/>
          <p:nvPr/>
        </p:nvSpPr>
        <p:spPr>
          <a:xfrm>
            <a:off x="9400032" y="2532888"/>
            <a:ext cx="182880" cy="274320"/>
          </a:xfrm>
          <a:prstGeom prst="rightArrow">
            <a:avLst/>
          </a:prstGeom>
          <a:solidFill>
            <a:srgbClr val="E8A33D"/>
          </a:solidFill>
          <a:ln w="12700">
            <a:solidFill>
              <a:srgbClr val="E8A33D"/>
            </a:solidFill>
            <a:prstDash val="solid"/>
          </a:ln>
        </p:spPr>
      </p:sp>
      <p:sp>
        <p:nvSpPr>
          <p:cNvPr id="20" name="Shape 18"/>
          <p:cNvSpPr/>
          <p:nvPr/>
        </p:nvSpPr>
        <p:spPr>
          <a:xfrm>
            <a:off x="9619488" y="1783080"/>
            <a:ext cx="2011680" cy="1783080"/>
          </a:xfrm>
          <a:prstGeom prst="roundRect">
            <a:avLst>
              <a:gd name="adj" fmla="val 6154"/>
            </a:avLst>
          </a:prstGeom>
          <a:solidFill>
            <a:srgbClr val="F2F5F5"/>
          </a:solidFill>
          <a:ln w="12700">
            <a:solidFill>
              <a:srgbClr val="F2F5F5"/>
            </a:solidFill>
            <a:prstDash val="solid"/>
          </a:ln>
        </p:spPr>
      </p:sp>
      <p:sp>
        <p:nvSpPr>
          <p:cNvPr id="21" name="Text 19"/>
          <p:cNvSpPr txBox="1"/>
          <p:nvPr/>
        </p:nvSpPr>
        <p:spPr>
          <a:xfrm>
            <a:off x="9756648" y="1920240"/>
            <a:ext cx="1737360" cy="411480"/>
          </a:xfrm>
          <a:prstGeom prst="rect">
            <a:avLst/>
          </a:prstGeom>
          <a:noFill/>
          <a:ln/>
        </p:spPr>
        <p:txBody>
          <a:bodyPr wrap="square" lIns="0" tIns="0" rIns="0" bIns="0" rtlCol="0" anchor="t"/>
          <a:lstStyle/>
          <a:p>
            <a:pPr indent="0" marL="0">
              <a:buNone/>
            </a:pPr>
            <a:r>
              <a:rPr lang="en-US" sz="1500" b="1" dirty="0">
                <a:solidFill>
                  <a:srgbClr val="0F6E74"/>
                </a:solidFill>
                <a:latin typeface="Calibri" pitchFamily="34" charset="0"/>
                <a:ea typeface="Calibri" pitchFamily="34" charset="-122"/>
                <a:cs typeface="Calibri" pitchFamily="34" charset="-120"/>
              </a:rPr>
              <a:t>Caption</a:t>
            </a:r>
            <a:endParaRPr lang="en-US" sz="1500" dirty="0"/>
          </a:p>
        </p:txBody>
      </p:sp>
      <p:sp>
        <p:nvSpPr>
          <p:cNvPr id="22" name="Text 20"/>
          <p:cNvSpPr txBox="1"/>
          <p:nvPr/>
        </p:nvSpPr>
        <p:spPr>
          <a:xfrm>
            <a:off x="9756648" y="2377440"/>
            <a:ext cx="1737360" cy="1097280"/>
          </a:xfrm>
          <a:prstGeom prst="rect">
            <a:avLst/>
          </a:prstGeom>
          <a:noFill/>
          <a:ln/>
        </p:spPr>
        <p:txBody>
          <a:bodyPr wrap="square" lIns="0" tIns="0" rIns="0" bIns="0" rtlCol="0" anchor="t"/>
          <a:lstStyle/>
          <a:p>
            <a:pPr indent="0" marL="0">
              <a:buNone/>
            </a:pPr>
            <a:r>
              <a:rPr lang="en-US" sz="1250" dirty="0">
                <a:solidFill>
                  <a:srgbClr val="1B2B34"/>
                </a:solidFill>
                <a:latin typeface="Calibri" pitchFamily="34" charset="0"/>
                <a:ea typeface="Calibri" pitchFamily="34" charset="-122"/>
                <a:cs typeface="Calibri" pitchFamily="34" charset="-120"/>
              </a:rPr>
              <a:t>~48 words,</a:t>
            </a:r>
            <a:endParaRPr lang="en-US" sz="1250" dirty="0"/>
          </a:p>
          <a:p>
            <a:pPr indent="0" marL="0">
              <a:buNone/>
            </a:pPr>
            <a:r>
              <a:rPr lang="en-US" sz="1250" dirty="0">
                <a:solidFill>
                  <a:srgbClr val="1B2B34"/>
                </a:solidFill>
                <a:latin typeface="Calibri" pitchFamily="34" charset="0"/>
                <a:ea typeface="Calibri" pitchFamily="34" charset="-122"/>
                <a:cs typeface="Calibri" pitchFamily="34" charset="-120"/>
              </a:rPr>
              <a:t>loss on caption</a:t>
            </a:r>
            <a:endParaRPr lang="en-US" sz="1250" dirty="0"/>
          </a:p>
          <a:p>
            <a:pPr indent="0" marL="0">
              <a:buNone/>
            </a:pPr>
            <a:r>
              <a:rPr lang="en-US" sz="1250" dirty="0">
                <a:solidFill>
                  <a:srgbClr val="1B2B34"/>
                </a:solidFill>
                <a:latin typeface="Calibri" pitchFamily="34" charset="0"/>
                <a:ea typeface="Calibri" pitchFamily="34" charset="-122"/>
                <a:cs typeface="Calibri" pitchFamily="34" charset="-120"/>
              </a:rPr>
              <a:t>tokens only</a:t>
            </a:r>
            <a:endParaRPr lang="en-US" sz="1250" dirty="0"/>
          </a:p>
        </p:txBody>
      </p:sp>
      <p:sp>
        <p:nvSpPr>
          <p:cNvPr id="23" name="Shape 21"/>
          <p:cNvSpPr/>
          <p:nvPr/>
        </p:nvSpPr>
        <p:spPr>
          <a:xfrm>
            <a:off x="548640" y="4069080"/>
            <a:ext cx="502920" cy="502920"/>
          </a:xfrm>
          <a:prstGeom prst="ellipse">
            <a:avLst/>
          </a:prstGeom>
          <a:solidFill>
            <a:srgbClr val="0F6E74"/>
          </a:solidFill>
          <a:ln w="12700">
            <a:solidFill>
              <a:srgbClr val="0F6E74"/>
            </a:solidFill>
            <a:prstDash val="solid"/>
          </a:ln>
        </p:spPr>
      </p:sp>
      <p:pic>
        <p:nvPicPr>
          <p:cNvPr id="24" name="Image 0" descr="preencoded.png">    </p:cNvPr>
          <p:cNvPicPr>
            <a:picLocks noChangeAspect="1"/>
          </p:cNvPicPr>
          <p:nvPr/>
        </p:nvPicPr>
        <p:blipFill>
          <a:blip r:embed="rId1"/>
          <a:stretch>
            <a:fillRect/>
          </a:stretch>
        </p:blipFill>
        <p:spPr>
          <a:xfrm>
            <a:off x="659282" y="4179722"/>
            <a:ext cx="281635" cy="281635"/>
          </a:xfrm>
          <a:prstGeom prst="rect">
            <a:avLst/>
          </a:prstGeom>
        </p:spPr>
      </p:pic>
      <p:sp>
        <p:nvSpPr>
          <p:cNvPr id="25" name="Text 22"/>
          <p:cNvSpPr txBox="1"/>
          <p:nvPr/>
        </p:nvSpPr>
        <p:spPr>
          <a:xfrm>
            <a:off x="1188720" y="4069080"/>
            <a:ext cx="2926080" cy="365760"/>
          </a:xfrm>
          <a:prstGeom prst="rect">
            <a:avLst/>
          </a:prstGeom>
          <a:noFill/>
          <a:ln/>
        </p:spPr>
        <p:txBody>
          <a:bodyPr wrap="square" lIns="0" tIns="0" rIns="0" bIns="0" rtlCol="0" anchor="t"/>
          <a:lstStyle/>
          <a:p>
            <a:pPr indent="0" marL="0">
              <a:buNone/>
            </a:pPr>
            <a:r>
              <a:rPr lang="en-US" sz="1500" b="1" dirty="0">
                <a:solidFill>
                  <a:srgbClr val="1B2B34"/>
                </a:solidFill>
                <a:latin typeface="Calibri" pitchFamily="34" charset="0"/>
                <a:ea typeface="Calibri" pitchFamily="34" charset="-122"/>
                <a:cs typeface="Calibri" pitchFamily="34" charset="-120"/>
              </a:rPr>
              <a:t>Native resolution</a:t>
            </a:r>
            <a:endParaRPr lang="en-US" sz="1500" dirty="0"/>
          </a:p>
        </p:txBody>
      </p:sp>
      <p:sp>
        <p:nvSpPr>
          <p:cNvPr id="26" name="Text 23"/>
          <p:cNvSpPr txBox="1"/>
          <p:nvPr/>
        </p:nvSpPr>
        <p:spPr>
          <a:xfrm>
            <a:off x="1188720" y="4462272"/>
            <a:ext cx="2926080" cy="100584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No square crop; positions are kept. Pre-training included grounding with absolute coordinates.</a:t>
            </a:r>
            <a:endParaRPr lang="en-US" sz="1300" dirty="0"/>
          </a:p>
        </p:txBody>
      </p:sp>
      <p:sp>
        <p:nvSpPr>
          <p:cNvPr id="27" name="Shape 24"/>
          <p:cNvSpPr/>
          <p:nvPr/>
        </p:nvSpPr>
        <p:spPr>
          <a:xfrm>
            <a:off x="4297680" y="4069080"/>
            <a:ext cx="502920" cy="502920"/>
          </a:xfrm>
          <a:prstGeom prst="ellipse">
            <a:avLst/>
          </a:prstGeom>
          <a:solidFill>
            <a:srgbClr val="0F6E74"/>
          </a:solidFill>
          <a:ln w="12700">
            <a:solidFill>
              <a:srgbClr val="0F6E74"/>
            </a:solidFill>
            <a:prstDash val="solid"/>
          </a:ln>
        </p:spPr>
      </p:sp>
      <p:pic>
        <p:nvPicPr>
          <p:cNvPr id="28" name="Image 1" descr="preencoded.png">    </p:cNvPr>
          <p:cNvPicPr>
            <a:picLocks noChangeAspect="1"/>
          </p:cNvPicPr>
          <p:nvPr/>
        </p:nvPicPr>
        <p:blipFill>
          <a:blip r:embed="rId2"/>
          <a:stretch>
            <a:fillRect/>
          </a:stretch>
        </p:blipFill>
        <p:spPr>
          <a:xfrm>
            <a:off x="4408322" y="4179722"/>
            <a:ext cx="281635" cy="281635"/>
          </a:xfrm>
          <a:prstGeom prst="rect">
            <a:avLst/>
          </a:prstGeom>
        </p:spPr>
      </p:pic>
      <p:sp>
        <p:nvSpPr>
          <p:cNvPr id="29" name="Text 25"/>
          <p:cNvSpPr txBox="1"/>
          <p:nvPr/>
        </p:nvSpPr>
        <p:spPr>
          <a:xfrm>
            <a:off x="4937760" y="4069080"/>
            <a:ext cx="2926080" cy="365760"/>
          </a:xfrm>
          <a:prstGeom prst="rect">
            <a:avLst/>
          </a:prstGeom>
          <a:noFill/>
          <a:ln/>
        </p:spPr>
        <p:txBody>
          <a:bodyPr wrap="square" lIns="0" tIns="0" rIns="0" bIns="0" rtlCol="0" anchor="t"/>
          <a:lstStyle/>
          <a:p>
            <a:pPr indent="0" marL="0">
              <a:buNone/>
            </a:pPr>
            <a:r>
              <a:rPr lang="en-US" sz="1500" b="1" dirty="0">
                <a:solidFill>
                  <a:srgbClr val="1B2B34"/>
                </a:solidFill>
                <a:latin typeface="Calibri" pitchFamily="34" charset="0"/>
                <a:ea typeface="Calibri" pitchFamily="34" charset="-122"/>
                <a:cs typeface="Calibri" pitchFamily="34" charset="-120"/>
              </a:rPr>
              <a:t>Fits one T4 in fp16</a:t>
            </a:r>
            <a:endParaRPr lang="en-US" sz="1500" dirty="0"/>
          </a:p>
        </p:txBody>
      </p:sp>
      <p:sp>
        <p:nvSpPr>
          <p:cNvPr id="30" name="Text 26"/>
          <p:cNvSpPr txBox="1"/>
          <p:nvPr/>
        </p:nvSpPr>
        <p:spPr>
          <a:xfrm>
            <a:off x="4937760" y="4462272"/>
            <a:ext cx="2926080" cy="100584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7.5 GB of weights. Full fine-tuning would need ~60 GB; LoRA peaks at 10.8–14.3 GB.</a:t>
            </a:r>
            <a:endParaRPr lang="en-US" sz="1300" dirty="0"/>
          </a:p>
        </p:txBody>
      </p:sp>
      <p:sp>
        <p:nvSpPr>
          <p:cNvPr id="31" name="Shape 27"/>
          <p:cNvSpPr/>
          <p:nvPr/>
        </p:nvSpPr>
        <p:spPr>
          <a:xfrm>
            <a:off x="8046720" y="4069080"/>
            <a:ext cx="502920" cy="502920"/>
          </a:xfrm>
          <a:prstGeom prst="ellipse">
            <a:avLst/>
          </a:prstGeom>
          <a:solidFill>
            <a:srgbClr val="0F6E74"/>
          </a:solidFill>
          <a:ln w="12700">
            <a:solidFill>
              <a:srgbClr val="0F6E74"/>
            </a:solidFill>
            <a:prstDash val="solid"/>
          </a:ln>
        </p:spPr>
      </p:sp>
      <p:pic>
        <p:nvPicPr>
          <p:cNvPr id="32" name="Image 2" descr="preencoded.png">    </p:cNvPr>
          <p:cNvPicPr>
            <a:picLocks noChangeAspect="1"/>
          </p:cNvPicPr>
          <p:nvPr/>
        </p:nvPicPr>
        <p:blipFill>
          <a:blip r:embed="rId3"/>
          <a:stretch>
            <a:fillRect/>
          </a:stretch>
        </p:blipFill>
        <p:spPr>
          <a:xfrm>
            <a:off x="8157362" y="4179722"/>
            <a:ext cx="281635" cy="281635"/>
          </a:xfrm>
          <a:prstGeom prst="rect">
            <a:avLst/>
          </a:prstGeom>
        </p:spPr>
      </p:pic>
      <p:sp>
        <p:nvSpPr>
          <p:cNvPr id="33" name="Text 28"/>
          <p:cNvSpPr txBox="1"/>
          <p:nvPr/>
        </p:nvSpPr>
        <p:spPr>
          <a:xfrm>
            <a:off x="8686800" y="4069080"/>
            <a:ext cx="2926080" cy="365760"/>
          </a:xfrm>
          <a:prstGeom prst="rect">
            <a:avLst/>
          </a:prstGeom>
          <a:noFill/>
          <a:ln/>
        </p:spPr>
        <p:txBody>
          <a:bodyPr wrap="square" lIns="0" tIns="0" rIns="0" bIns="0" rtlCol="0" anchor="t"/>
          <a:lstStyle/>
          <a:p>
            <a:pPr indent="0" marL="0">
              <a:buNone/>
            </a:pPr>
            <a:r>
              <a:rPr lang="en-US" sz="1500" b="1" dirty="0">
                <a:solidFill>
                  <a:srgbClr val="1B2B34"/>
                </a:solidFill>
                <a:latin typeface="Calibri" pitchFamily="34" charset="0"/>
                <a:ea typeface="Calibri" pitchFamily="34" charset="-122"/>
                <a:cs typeface="Calibri" pitchFamily="34" charset="-120"/>
              </a:rPr>
              <a:t>Dense, not MoE</a:t>
            </a:r>
            <a:endParaRPr lang="en-US" sz="1500" dirty="0"/>
          </a:p>
        </p:txBody>
      </p:sp>
      <p:sp>
        <p:nvSpPr>
          <p:cNvPr id="34" name="Text 29"/>
          <p:cNvSpPr txBox="1"/>
          <p:nvPr/>
        </p:nvSpPr>
        <p:spPr>
          <a:xfrm>
            <a:off x="8686800" y="4462272"/>
            <a:ext cx="2926080" cy="100584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MoE saves compute per token, but every expert must sit in memory, and memory was the limit.</a:t>
            </a:r>
            <a:endParaRPr lang="en-US" sz="1300" dirty="0"/>
          </a:p>
        </p:txBody>
      </p:sp>
      <p:sp>
        <p:nvSpPr>
          <p:cNvPr id="35" name="Text 30"/>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b="1" dirty="0">
                <a:solidFill>
                  <a:srgbClr val="0F6E74"/>
                </a:solidFill>
                <a:latin typeface="Calibri" pitchFamily="34" charset="0"/>
                <a:ea typeface="Calibri" pitchFamily="34" charset="-122"/>
                <a:cs typeface="Calibri" pitchFamily="34" charset="-120"/>
              </a:rPr>
              <a:t>LoRA:  W = W₀ + (α/r)·BA,  r = 16, α = 32, B initialised to 0  →  7.4 M (LLM only) to 11.3 M (LLM + all ViT blocks) trainable parameters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Experiment roadmap: isolate, then combine</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2,000-image ablations on one T4, then the full split on two</a:t>
            </a:r>
            <a:endParaRPr lang="en-US" sz="1500" dirty="0"/>
          </a:p>
        </p:txBody>
      </p:sp>
      <p:sp>
        <p:nvSpPr>
          <p:cNvPr id="4" name="Shape 2"/>
          <p:cNvSpPr/>
          <p:nvPr/>
        </p:nvSpPr>
        <p:spPr>
          <a:xfrm>
            <a:off x="877824" y="2221992"/>
            <a:ext cx="9467583" cy="0"/>
          </a:xfrm>
          <a:prstGeom prst="line">
            <a:avLst/>
          </a:prstGeom>
          <a:noFill/>
          <a:ln w="25400">
            <a:solidFill>
              <a:srgbClr val="C9D6D5"/>
            </a:solidFill>
            <a:prstDash val="solid"/>
          </a:ln>
        </p:spPr>
      </p:sp>
      <p:sp>
        <p:nvSpPr>
          <p:cNvPr id="5" name="Shape 3"/>
          <p:cNvSpPr/>
          <p:nvPr/>
        </p:nvSpPr>
        <p:spPr>
          <a:xfrm>
            <a:off x="685800" y="2029968"/>
            <a:ext cx="384048" cy="384048"/>
          </a:xfrm>
          <a:prstGeom prst="ellipse">
            <a:avLst/>
          </a:prstGeom>
          <a:solidFill>
            <a:srgbClr val="0F6E74"/>
          </a:solidFill>
          <a:ln w="12700">
            <a:solidFill>
              <a:srgbClr val="0F6E74"/>
            </a:solidFill>
            <a:prstDash val="solid"/>
          </a:ln>
        </p:spPr>
      </p:sp>
      <p:sp>
        <p:nvSpPr>
          <p:cNvPr id="6" name="Text 4"/>
          <p:cNvSpPr txBox="1"/>
          <p:nvPr/>
        </p:nvSpPr>
        <p:spPr>
          <a:xfrm>
            <a:off x="685800" y="2029968"/>
            <a:ext cx="384048" cy="384048"/>
          </a:xfrm>
          <a:prstGeom prst="rect">
            <a:avLst/>
          </a:prstGeom>
          <a:noFill/>
          <a:ln/>
        </p:spPr>
        <p:txBody>
          <a:bodyPr wrap="square" lIns="0" tIns="0" rIns="0" bIns="0" rtlCol="0" anchor="ctr"/>
          <a:lstStyle/>
          <a:p>
            <a:pPr algn="ctr" indent="0" marL="0">
              <a:buNone/>
            </a:pPr>
            <a:endParaRPr lang="en-US" sz="1200" dirty="0"/>
          </a:p>
        </p:txBody>
      </p:sp>
      <p:sp>
        <p:nvSpPr>
          <p:cNvPr id="7" name="Text 5"/>
          <p:cNvSpPr txBox="1"/>
          <p:nvPr/>
        </p:nvSpPr>
        <p:spPr>
          <a:xfrm>
            <a:off x="502920" y="1554480"/>
            <a:ext cx="749808" cy="365760"/>
          </a:xfrm>
          <a:prstGeom prst="rect">
            <a:avLst/>
          </a:prstGeom>
          <a:noFill/>
          <a:ln/>
        </p:spPr>
        <p:txBody>
          <a:bodyPr wrap="square" lIns="0" tIns="0" rIns="0" bIns="0" rtlCol="0" anchor="t"/>
          <a:lstStyle/>
          <a:p>
            <a:pPr algn="ctr" indent="0" marL="0">
              <a:buNone/>
            </a:pPr>
            <a:r>
              <a:rPr lang="en-US" sz="1500" b="1" dirty="0">
                <a:solidFill>
                  <a:srgbClr val="0F6E74"/>
                </a:solidFill>
                <a:latin typeface="Calibri" pitchFamily="34" charset="0"/>
                <a:ea typeface="Calibri" pitchFamily="34" charset="-122"/>
                <a:cs typeface="Calibri" pitchFamily="34" charset="-120"/>
              </a:rPr>
              <a:t>E0</a:t>
            </a:r>
            <a:endParaRPr lang="en-US" sz="1500" dirty="0"/>
          </a:p>
        </p:txBody>
      </p:sp>
      <p:sp>
        <p:nvSpPr>
          <p:cNvPr id="8" name="Text 6"/>
          <p:cNvSpPr txBox="1"/>
          <p:nvPr/>
        </p:nvSpPr>
        <p:spPr>
          <a:xfrm>
            <a:off x="594360" y="2606040"/>
            <a:ext cx="127936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Baseline</a:t>
            </a:r>
            <a:endParaRPr lang="en-US" sz="1300" dirty="0"/>
          </a:p>
        </p:txBody>
      </p:sp>
      <p:sp>
        <p:nvSpPr>
          <p:cNvPr id="9" name="Text 7"/>
          <p:cNvSpPr txBox="1"/>
          <p:nvPr/>
        </p:nvSpPr>
        <p:spPr>
          <a:xfrm>
            <a:off x="594360" y="3108960"/>
            <a:ext cx="1279360" cy="11887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LoRA on LLM attention, LR 5e-5, batch 1</a:t>
            </a:r>
            <a:endParaRPr lang="en-US" sz="1150" dirty="0"/>
          </a:p>
        </p:txBody>
      </p:sp>
      <p:sp>
        <p:nvSpPr>
          <p:cNvPr id="10" name="Shape 8"/>
          <p:cNvSpPr/>
          <p:nvPr/>
        </p:nvSpPr>
        <p:spPr>
          <a:xfrm>
            <a:off x="2038312" y="2029968"/>
            <a:ext cx="384048" cy="384048"/>
          </a:xfrm>
          <a:prstGeom prst="ellipse">
            <a:avLst/>
          </a:prstGeom>
          <a:solidFill>
            <a:srgbClr val="0F6E74"/>
          </a:solidFill>
          <a:ln w="12700">
            <a:solidFill>
              <a:srgbClr val="0F6E74"/>
            </a:solidFill>
            <a:prstDash val="solid"/>
          </a:ln>
        </p:spPr>
      </p:sp>
      <p:sp>
        <p:nvSpPr>
          <p:cNvPr id="11" name="Text 9"/>
          <p:cNvSpPr txBox="1"/>
          <p:nvPr/>
        </p:nvSpPr>
        <p:spPr>
          <a:xfrm>
            <a:off x="2038312" y="2029968"/>
            <a:ext cx="384048" cy="384048"/>
          </a:xfrm>
          <a:prstGeom prst="rect">
            <a:avLst/>
          </a:prstGeom>
          <a:noFill/>
          <a:ln/>
        </p:spPr>
        <p:txBody>
          <a:bodyPr wrap="square" lIns="0" tIns="0" rIns="0" bIns="0" rtlCol="0" anchor="ctr"/>
          <a:lstStyle/>
          <a:p>
            <a:pPr algn="ctr" indent="0" marL="0">
              <a:buNone/>
            </a:pPr>
            <a:endParaRPr lang="en-US" sz="1200" dirty="0"/>
          </a:p>
        </p:txBody>
      </p:sp>
      <p:sp>
        <p:nvSpPr>
          <p:cNvPr id="12" name="Text 10"/>
          <p:cNvSpPr txBox="1"/>
          <p:nvPr/>
        </p:nvSpPr>
        <p:spPr>
          <a:xfrm>
            <a:off x="1855432" y="1554480"/>
            <a:ext cx="749808" cy="365760"/>
          </a:xfrm>
          <a:prstGeom prst="rect">
            <a:avLst/>
          </a:prstGeom>
          <a:noFill/>
          <a:ln/>
        </p:spPr>
        <p:txBody>
          <a:bodyPr wrap="square" lIns="0" tIns="0" rIns="0" bIns="0" rtlCol="0" anchor="t"/>
          <a:lstStyle/>
          <a:p>
            <a:pPr algn="ctr" indent="0" marL="0">
              <a:buNone/>
            </a:pPr>
            <a:r>
              <a:rPr lang="en-US" sz="1500" b="1" dirty="0">
                <a:solidFill>
                  <a:srgbClr val="0F6E74"/>
                </a:solidFill>
                <a:latin typeface="Calibri" pitchFamily="34" charset="0"/>
                <a:ea typeface="Calibri" pitchFamily="34" charset="-122"/>
                <a:cs typeface="Calibri" pitchFamily="34" charset="-120"/>
              </a:rPr>
              <a:t>E1</a:t>
            </a:r>
            <a:endParaRPr lang="en-US" sz="1500" dirty="0"/>
          </a:p>
        </p:txBody>
      </p:sp>
      <p:sp>
        <p:nvSpPr>
          <p:cNvPr id="13" name="Text 11"/>
          <p:cNvSpPr txBox="1"/>
          <p:nvPr/>
        </p:nvSpPr>
        <p:spPr>
          <a:xfrm>
            <a:off x="1946872" y="2606040"/>
            <a:ext cx="127936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Resolution</a:t>
            </a:r>
            <a:endParaRPr lang="en-US" sz="1300" dirty="0"/>
          </a:p>
        </p:txBody>
      </p:sp>
      <p:sp>
        <p:nvSpPr>
          <p:cNvPr id="14" name="Text 12"/>
          <p:cNvSpPr txBox="1"/>
          <p:nvPr/>
        </p:nvSpPr>
        <p:spPr>
          <a:xfrm>
            <a:off x="1946872" y="3108960"/>
            <a:ext cx="1279360" cy="11887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324 visual tokens + gradient checkpointing</a:t>
            </a:r>
            <a:endParaRPr lang="en-US" sz="1150" dirty="0"/>
          </a:p>
        </p:txBody>
      </p:sp>
      <p:sp>
        <p:nvSpPr>
          <p:cNvPr id="15" name="Shape 13"/>
          <p:cNvSpPr/>
          <p:nvPr/>
        </p:nvSpPr>
        <p:spPr>
          <a:xfrm>
            <a:off x="3390824" y="2029968"/>
            <a:ext cx="384048" cy="384048"/>
          </a:xfrm>
          <a:prstGeom prst="ellipse">
            <a:avLst/>
          </a:prstGeom>
          <a:solidFill>
            <a:srgbClr val="0F6E74"/>
          </a:solidFill>
          <a:ln w="12700">
            <a:solidFill>
              <a:srgbClr val="0F6E74"/>
            </a:solidFill>
            <a:prstDash val="solid"/>
          </a:ln>
        </p:spPr>
      </p:sp>
      <p:sp>
        <p:nvSpPr>
          <p:cNvPr id="16" name="Text 14"/>
          <p:cNvSpPr txBox="1"/>
          <p:nvPr/>
        </p:nvSpPr>
        <p:spPr>
          <a:xfrm>
            <a:off x="3390824" y="2029968"/>
            <a:ext cx="384048" cy="384048"/>
          </a:xfrm>
          <a:prstGeom prst="rect">
            <a:avLst/>
          </a:prstGeom>
          <a:noFill/>
          <a:ln/>
        </p:spPr>
        <p:txBody>
          <a:bodyPr wrap="square" lIns="0" tIns="0" rIns="0" bIns="0" rtlCol="0" anchor="ctr"/>
          <a:lstStyle/>
          <a:p>
            <a:pPr algn="ctr" indent="0" marL="0">
              <a:buNone/>
            </a:pPr>
            <a:endParaRPr lang="en-US" sz="1200" dirty="0"/>
          </a:p>
        </p:txBody>
      </p:sp>
      <p:sp>
        <p:nvSpPr>
          <p:cNvPr id="17" name="Text 15"/>
          <p:cNvSpPr txBox="1"/>
          <p:nvPr/>
        </p:nvSpPr>
        <p:spPr>
          <a:xfrm>
            <a:off x="3207944" y="1554480"/>
            <a:ext cx="749808" cy="365760"/>
          </a:xfrm>
          <a:prstGeom prst="rect">
            <a:avLst/>
          </a:prstGeom>
          <a:noFill/>
          <a:ln/>
        </p:spPr>
        <p:txBody>
          <a:bodyPr wrap="square" lIns="0" tIns="0" rIns="0" bIns="0" rtlCol="0" anchor="t"/>
          <a:lstStyle/>
          <a:p>
            <a:pPr algn="ctr" indent="0" marL="0">
              <a:buNone/>
            </a:pPr>
            <a:r>
              <a:rPr lang="en-US" sz="1500" b="1" dirty="0">
                <a:solidFill>
                  <a:srgbClr val="0F6E74"/>
                </a:solidFill>
                <a:latin typeface="Calibri" pitchFamily="34" charset="0"/>
                <a:ea typeface="Calibri" pitchFamily="34" charset="-122"/>
                <a:cs typeface="Calibri" pitchFamily="34" charset="-120"/>
              </a:rPr>
              <a:t>E2</a:t>
            </a:r>
            <a:endParaRPr lang="en-US" sz="1500" dirty="0"/>
          </a:p>
        </p:txBody>
      </p:sp>
      <p:sp>
        <p:nvSpPr>
          <p:cNvPr id="18" name="Text 16"/>
          <p:cNvSpPr txBox="1"/>
          <p:nvPr/>
        </p:nvSpPr>
        <p:spPr>
          <a:xfrm>
            <a:off x="3299384" y="2606040"/>
            <a:ext cx="127936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ViT LoRA ×8</a:t>
            </a:r>
            <a:endParaRPr lang="en-US" sz="1300" dirty="0"/>
          </a:p>
        </p:txBody>
      </p:sp>
      <p:sp>
        <p:nvSpPr>
          <p:cNvPr id="19" name="Text 17"/>
          <p:cNvSpPr txBox="1"/>
          <p:nvPr/>
        </p:nvSpPr>
        <p:spPr>
          <a:xfrm>
            <a:off x="3299384" y="3108960"/>
            <a:ext cx="1279360" cy="11887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last 8 ViT blocks, LR 1e-5 ViT / 5e-5 LLM</a:t>
            </a:r>
            <a:endParaRPr lang="en-US" sz="1150" dirty="0"/>
          </a:p>
        </p:txBody>
      </p:sp>
      <p:sp>
        <p:nvSpPr>
          <p:cNvPr id="20" name="Shape 18"/>
          <p:cNvSpPr/>
          <p:nvPr/>
        </p:nvSpPr>
        <p:spPr>
          <a:xfrm>
            <a:off x="4743336" y="2029968"/>
            <a:ext cx="384048" cy="384048"/>
          </a:xfrm>
          <a:prstGeom prst="ellipse">
            <a:avLst/>
          </a:prstGeom>
          <a:solidFill>
            <a:srgbClr val="E8A33D"/>
          </a:solidFill>
          <a:ln w="12700">
            <a:solidFill>
              <a:srgbClr val="E8A33D"/>
            </a:solidFill>
            <a:prstDash val="solid"/>
          </a:ln>
        </p:spPr>
      </p:sp>
      <p:sp>
        <p:nvSpPr>
          <p:cNvPr id="21" name="Text 19"/>
          <p:cNvSpPr txBox="1"/>
          <p:nvPr/>
        </p:nvSpPr>
        <p:spPr>
          <a:xfrm>
            <a:off x="4743336" y="2029968"/>
            <a:ext cx="384048" cy="384048"/>
          </a:xfrm>
          <a:prstGeom prst="rect">
            <a:avLst/>
          </a:prstGeom>
          <a:noFill/>
          <a:ln/>
        </p:spPr>
        <p:txBody>
          <a:bodyPr wrap="square" lIns="0" tIns="0" rIns="0" bIns="0" rtlCol="0" anchor="ctr"/>
          <a:lstStyle/>
          <a:p>
            <a:pPr algn="ctr" indent="0" marL="0">
              <a:buNone/>
            </a:pPr>
            <a:endParaRPr lang="en-US" sz="1200" dirty="0"/>
          </a:p>
        </p:txBody>
      </p:sp>
      <p:sp>
        <p:nvSpPr>
          <p:cNvPr id="22" name="Text 20"/>
          <p:cNvSpPr txBox="1"/>
          <p:nvPr/>
        </p:nvSpPr>
        <p:spPr>
          <a:xfrm>
            <a:off x="4560456" y="1554480"/>
            <a:ext cx="749808" cy="365760"/>
          </a:xfrm>
          <a:prstGeom prst="rect">
            <a:avLst/>
          </a:prstGeom>
          <a:noFill/>
          <a:ln/>
        </p:spPr>
        <p:txBody>
          <a:bodyPr wrap="square" lIns="0" tIns="0" rIns="0" bIns="0" rtlCol="0" anchor="t"/>
          <a:lstStyle/>
          <a:p>
            <a:pPr algn="ctr" indent="0" marL="0">
              <a:buNone/>
            </a:pPr>
            <a:r>
              <a:rPr lang="en-US" sz="1500" b="1" dirty="0">
                <a:solidFill>
                  <a:srgbClr val="B57A1A"/>
                </a:solidFill>
                <a:latin typeface="Calibri" pitchFamily="34" charset="0"/>
                <a:ea typeface="Calibri" pitchFamily="34" charset="-122"/>
                <a:cs typeface="Calibri" pitchFamily="34" charset="-120"/>
              </a:rPr>
              <a:t>E3</a:t>
            </a:r>
            <a:endParaRPr lang="en-US" sz="1500" dirty="0"/>
          </a:p>
        </p:txBody>
      </p:sp>
      <p:sp>
        <p:nvSpPr>
          <p:cNvPr id="23" name="Text 21"/>
          <p:cNvSpPr txBox="1"/>
          <p:nvPr/>
        </p:nvSpPr>
        <p:spPr>
          <a:xfrm>
            <a:off x="4651896" y="2606040"/>
            <a:ext cx="127936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ViT LoRA ×32</a:t>
            </a:r>
            <a:endParaRPr lang="en-US" sz="1300" dirty="0"/>
          </a:p>
        </p:txBody>
      </p:sp>
      <p:sp>
        <p:nvSpPr>
          <p:cNvPr id="24" name="Text 22"/>
          <p:cNvSpPr txBox="1"/>
          <p:nvPr/>
        </p:nvSpPr>
        <p:spPr>
          <a:xfrm>
            <a:off x="4651896" y="3108960"/>
            <a:ext cx="1279360" cy="11887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all ViT blocks: best 2k-image run</a:t>
            </a:r>
            <a:endParaRPr lang="en-US" sz="1150" dirty="0"/>
          </a:p>
        </p:txBody>
      </p:sp>
      <p:sp>
        <p:nvSpPr>
          <p:cNvPr id="25" name="Shape 23"/>
          <p:cNvSpPr/>
          <p:nvPr/>
        </p:nvSpPr>
        <p:spPr>
          <a:xfrm>
            <a:off x="6095848" y="2029968"/>
            <a:ext cx="384048" cy="384048"/>
          </a:xfrm>
          <a:prstGeom prst="ellipse">
            <a:avLst/>
          </a:prstGeom>
          <a:solidFill>
            <a:srgbClr val="B5473A"/>
          </a:solidFill>
          <a:ln w="12700">
            <a:solidFill>
              <a:srgbClr val="B5473A"/>
            </a:solidFill>
            <a:prstDash val="solid"/>
          </a:ln>
        </p:spPr>
      </p:sp>
      <p:sp>
        <p:nvSpPr>
          <p:cNvPr id="26" name="Text 24"/>
          <p:cNvSpPr txBox="1"/>
          <p:nvPr/>
        </p:nvSpPr>
        <p:spPr>
          <a:xfrm>
            <a:off x="6095848" y="2029968"/>
            <a:ext cx="384048" cy="384048"/>
          </a:xfrm>
          <a:prstGeom prst="rect">
            <a:avLst/>
          </a:prstGeom>
          <a:noFill/>
          <a:ln/>
        </p:spPr>
        <p:txBody>
          <a:bodyPr wrap="square" lIns="0" tIns="0" rIns="0" bIns="0" rtlCol="0" anchor="ctr"/>
          <a:lstStyle/>
          <a:p>
            <a:pPr algn="ctr" indent="0" marL="0">
              <a:buNone/>
            </a:pPr>
            <a:endParaRPr lang="en-US" sz="1200" dirty="0"/>
          </a:p>
        </p:txBody>
      </p:sp>
      <p:sp>
        <p:nvSpPr>
          <p:cNvPr id="27" name="Text 25"/>
          <p:cNvSpPr txBox="1"/>
          <p:nvPr/>
        </p:nvSpPr>
        <p:spPr>
          <a:xfrm>
            <a:off x="5912968" y="1554480"/>
            <a:ext cx="749808" cy="365760"/>
          </a:xfrm>
          <a:prstGeom prst="rect">
            <a:avLst/>
          </a:prstGeom>
          <a:noFill/>
          <a:ln/>
        </p:spPr>
        <p:txBody>
          <a:bodyPr wrap="square" lIns="0" tIns="0" rIns="0" bIns="0" rtlCol="0" anchor="t"/>
          <a:lstStyle/>
          <a:p>
            <a:pPr algn="ctr" indent="0" marL="0">
              <a:buNone/>
            </a:pPr>
            <a:r>
              <a:rPr lang="en-US" sz="1500" b="1" dirty="0">
                <a:solidFill>
                  <a:srgbClr val="B5473A"/>
                </a:solidFill>
                <a:latin typeface="Calibri" pitchFamily="34" charset="0"/>
                <a:ea typeface="Calibri" pitchFamily="34" charset="-122"/>
                <a:cs typeface="Calibri" pitchFamily="34" charset="-120"/>
              </a:rPr>
              <a:t>E4</a:t>
            </a:r>
            <a:endParaRPr lang="en-US" sz="1500" dirty="0"/>
          </a:p>
        </p:txBody>
      </p:sp>
      <p:sp>
        <p:nvSpPr>
          <p:cNvPr id="28" name="Text 26"/>
          <p:cNvSpPr txBox="1"/>
          <p:nvPr/>
        </p:nvSpPr>
        <p:spPr>
          <a:xfrm>
            <a:off x="6004408" y="2606040"/>
            <a:ext cx="127936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Scheduler</a:t>
            </a:r>
            <a:endParaRPr lang="en-US" sz="1300" dirty="0"/>
          </a:p>
        </p:txBody>
      </p:sp>
      <p:sp>
        <p:nvSpPr>
          <p:cNvPr id="29" name="Text 27"/>
          <p:cNvSpPr txBox="1"/>
          <p:nvPr/>
        </p:nvSpPr>
        <p:spPr>
          <a:xfrm>
            <a:off x="6004408" y="3108960"/>
            <a:ext cx="1279360" cy="11887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warmup + linear decay; fp16 crash</a:t>
            </a:r>
            <a:endParaRPr lang="en-US" sz="1150" dirty="0"/>
          </a:p>
        </p:txBody>
      </p:sp>
      <p:sp>
        <p:nvSpPr>
          <p:cNvPr id="30" name="Shape 28"/>
          <p:cNvSpPr/>
          <p:nvPr/>
        </p:nvSpPr>
        <p:spPr>
          <a:xfrm>
            <a:off x="7448359" y="2029968"/>
            <a:ext cx="384048" cy="384048"/>
          </a:xfrm>
          <a:prstGeom prst="ellipse">
            <a:avLst/>
          </a:prstGeom>
          <a:solidFill>
            <a:srgbClr val="0F6E74"/>
          </a:solidFill>
          <a:ln w="12700">
            <a:solidFill>
              <a:srgbClr val="0F6E74"/>
            </a:solidFill>
            <a:prstDash val="solid"/>
          </a:ln>
        </p:spPr>
      </p:sp>
      <p:sp>
        <p:nvSpPr>
          <p:cNvPr id="31" name="Text 29"/>
          <p:cNvSpPr txBox="1"/>
          <p:nvPr/>
        </p:nvSpPr>
        <p:spPr>
          <a:xfrm>
            <a:off x="7448359" y="2029968"/>
            <a:ext cx="384048" cy="384048"/>
          </a:xfrm>
          <a:prstGeom prst="rect">
            <a:avLst/>
          </a:prstGeom>
          <a:noFill/>
          <a:ln/>
        </p:spPr>
        <p:txBody>
          <a:bodyPr wrap="square" lIns="0" tIns="0" rIns="0" bIns="0" rtlCol="0" anchor="ctr"/>
          <a:lstStyle/>
          <a:p>
            <a:pPr algn="ctr" indent="0" marL="0">
              <a:buNone/>
            </a:pPr>
            <a:endParaRPr lang="en-US" sz="1200" dirty="0"/>
          </a:p>
        </p:txBody>
      </p:sp>
      <p:sp>
        <p:nvSpPr>
          <p:cNvPr id="32" name="Text 30"/>
          <p:cNvSpPr txBox="1"/>
          <p:nvPr/>
        </p:nvSpPr>
        <p:spPr>
          <a:xfrm>
            <a:off x="7265479" y="1554480"/>
            <a:ext cx="749808" cy="365760"/>
          </a:xfrm>
          <a:prstGeom prst="rect">
            <a:avLst/>
          </a:prstGeom>
          <a:noFill/>
          <a:ln/>
        </p:spPr>
        <p:txBody>
          <a:bodyPr wrap="square" lIns="0" tIns="0" rIns="0" bIns="0" rtlCol="0" anchor="t"/>
          <a:lstStyle/>
          <a:p>
            <a:pPr algn="ctr" indent="0" marL="0">
              <a:buNone/>
            </a:pPr>
            <a:r>
              <a:rPr lang="en-US" sz="1500" b="1" dirty="0">
                <a:solidFill>
                  <a:srgbClr val="0F6E74"/>
                </a:solidFill>
                <a:latin typeface="Calibri" pitchFamily="34" charset="0"/>
                <a:ea typeface="Calibri" pitchFamily="34" charset="-122"/>
                <a:cs typeface="Calibri" pitchFamily="34" charset="-120"/>
              </a:rPr>
              <a:t>E5</a:t>
            </a:r>
            <a:endParaRPr lang="en-US" sz="1500" dirty="0"/>
          </a:p>
        </p:txBody>
      </p:sp>
      <p:sp>
        <p:nvSpPr>
          <p:cNvPr id="33" name="Text 31"/>
          <p:cNvSpPr txBox="1"/>
          <p:nvPr/>
        </p:nvSpPr>
        <p:spPr>
          <a:xfrm>
            <a:off x="7356919" y="2606040"/>
            <a:ext cx="127936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Grad. accum.</a:t>
            </a:r>
            <a:endParaRPr lang="en-US" sz="1300" dirty="0"/>
          </a:p>
        </p:txBody>
      </p:sp>
      <p:sp>
        <p:nvSpPr>
          <p:cNvPr id="34" name="Text 32"/>
          <p:cNvSpPr txBox="1"/>
          <p:nvPr/>
        </p:nvSpPr>
        <p:spPr>
          <a:xfrm>
            <a:off x="7356919" y="3108960"/>
            <a:ext cx="1279360" cy="11887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accumulation 2: no gain</a:t>
            </a:r>
            <a:endParaRPr lang="en-US" sz="1150" dirty="0"/>
          </a:p>
        </p:txBody>
      </p:sp>
      <p:sp>
        <p:nvSpPr>
          <p:cNvPr id="35" name="Shape 33"/>
          <p:cNvSpPr/>
          <p:nvPr/>
        </p:nvSpPr>
        <p:spPr>
          <a:xfrm>
            <a:off x="8800871" y="2029968"/>
            <a:ext cx="384048" cy="384048"/>
          </a:xfrm>
          <a:prstGeom prst="ellipse">
            <a:avLst/>
          </a:prstGeom>
          <a:solidFill>
            <a:srgbClr val="B5473A"/>
          </a:solidFill>
          <a:ln w="12700">
            <a:solidFill>
              <a:srgbClr val="B5473A"/>
            </a:solidFill>
            <a:prstDash val="solid"/>
          </a:ln>
        </p:spPr>
      </p:sp>
      <p:sp>
        <p:nvSpPr>
          <p:cNvPr id="36" name="Text 34"/>
          <p:cNvSpPr txBox="1"/>
          <p:nvPr/>
        </p:nvSpPr>
        <p:spPr>
          <a:xfrm>
            <a:off x="8800871" y="2029968"/>
            <a:ext cx="384048" cy="384048"/>
          </a:xfrm>
          <a:prstGeom prst="rect">
            <a:avLst/>
          </a:prstGeom>
          <a:noFill/>
          <a:ln/>
        </p:spPr>
        <p:txBody>
          <a:bodyPr wrap="square" lIns="0" tIns="0" rIns="0" bIns="0" rtlCol="0" anchor="ctr"/>
          <a:lstStyle/>
          <a:p>
            <a:pPr algn="ctr" indent="0" marL="0">
              <a:buNone/>
            </a:pPr>
            <a:endParaRPr lang="en-US" sz="1200" dirty="0"/>
          </a:p>
        </p:txBody>
      </p:sp>
      <p:sp>
        <p:nvSpPr>
          <p:cNvPr id="37" name="Text 35"/>
          <p:cNvSpPr txBox="1"/>
          <p:nvPr/>
        </p:nvSpPr>
        <p:spPr>
          <a:xfrm>
            <a:off x="8617991" y="1554480"/>
            <a:ext cx="749808" cy="365760"/>
          </a:xfrm>
          <a:prstGeom prst="rect">
            <a:avLst/>
          </a:prstGeom>
          <a:noFill/>
          <a:ln/>
        </p:spPr>
        <p:txBody>
          <a:bodyPr wrap="square" lIns="0" tIns="0" rIns="0" bIns="0" rtlCol="0" anchor="t"/>
          <a:lstStyle/>
          <a:p>
            <a:pPr algn="ctr" indent="0" marL="0">
              <a:buNone/>
            </a:pPr>
            <a:r>
              <a:rPr lang="en-US" sz="1500" b="1" dirty="0">
                <a:solidFill>
                  <a:srgbClr val="B5473A"/>
                </a:solidFill>
                <a:latin typeface="Calibri" pitchFamily="34" charset="0"/>
                <a:ea typeface="Calibri" pitchFamily="34" charset="-122"/>
                <a:cs typeface="Calibri" pitchFamily="34" charset="-120"/>
              </a:rPr>
              <a:t>E6/7</a:t>
            </a:r>
            <a:endParaRPr lang="en-US" sz="1500" dirty="0"/>
          </a:p>
        </p:txBody>
      </p:sp>
      <p:sp>
        <p:nvSpPr>
          <p:cNvPr id="38" name="Text 36"/>
          <p:cNvSpPr txBox="1"/>
          <p:nvPr/>
        </p:nvSpPr>
        <p:spPr>
          <a:xfrm>
            <a:off x="8709431" y="2606040"/>
            <a:ext cx="127936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2 epochs / rank 32</a:t>
            </a:r>
            <a:endParaRPr lang="en-US" sz="1300" dirty="0"/>
          </a:p>
        </p:txBody>
      </p:sp>
      <p:sp>
        <p:nvSpPr>
          <p:cNvPr id="39" name="Text 37"/>
          <p:cNvSpPr txBox="1"/>
          <p:nvPr/>
        </p:nvSpPr>
        <p:spPr>
          <a:xfrm>
            <a:off x="8709431" y="3108960"/>
            <a:ext cx="1279360" cy="11887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crash / no consistent gain</a:t>
            </a:r>
            <a:endParaRPr lang="en-US" sz="1150" dirty="0"/>
          </a:p>
        </p:txBody>
      </p:sp>
      <p:sp>
        <p:nvSpPr>
          <p:cNvPr id="40" name="Shape 38"/>
          <p:cNvSpPr/>
          <p:nvPr/>
        </p:nvSpPr>
        <p:spPr>
          <a:xfrm>
            <a:off x="10153383" y="2029968"/>
            <a:ext cx="384048" cy="384048"/>
          </a:xfrm>
          <a:prstGeom prst="ellipse">
            <a:avLst/>
          </a:prstGeom>
          <a:solidFill>
            <a:srgbClr val="E8A33D"/>
          </a:solidFill>
          <a:ln w="12700">
            <a:solidFill>
              <a:srgbClr val="E8A33D"/>
            </a:solidFill>
            <a:prstDash val="solid"/>
          </a:ln>
        </p:spPr>
      </p:sp>
      <p:sp>
        <p:nvSpPr>
          <p:cNvPr id="41" name="Text 39"/>
          <p:cNvSpPr txBox="1"/>
          <p:nvPr/>
        </p:nvSpPr>
        <p:spPr>
          <a:xfrm>
            <a:off x="10153383" y="2029968"/>
            <a:ext cx="384048" cy="384048"/>
          </a:xfrm>
          <a:prstGeom prst="rect">
            <a:avLst/>
          </a:prstGeom>
          <a:noFill/>
          <a:ln/>
        </p:spPr>
        <p:txBody>
          <a:bodyPr wrap="square" lIns="0" tIns="0" rIns="0" bIns="0" rtlCol="0" anchor="ctr"/>
          <a:lstStyle/>
          <a:p>
            <a:pPr algn="ctr" indent="0" marL="0">
              <a:buNone/>
            </a:pPr>
            <a:endParaRPr lang="en-US" sz="1200" dirty="0"/>
          </a:p>
        </p:txBody>
      </p:sp>
      <p:sp>
        <p:nvSpPr>
          <p:cNvPr id="42" name="Text 40"/>
          <p:cNvSpPr txBox="1"/>
          <p:nvPr/>
        </p:nvSpPr>
        <p:spPr>
          <a:xfrm>
            <a:off x="9970503" y="1554480"/>
            <a:ext cx="749808" cy="365760"/>
          </a:xfrm>
          <a:prstGeom prst="rect">
            <a:avLst/>
          </a:prstGeom>
          <a:noFill/>
          <a:ln/>
        </p:spPr>
        <p:txBody>
          <a:bodyPr wrap="square" lIns="0" tIns="0" rIns="0" bIns="0" rtlCol="0" anchor="t"/>
          <a:lstStyle/>
          <a:p>
            <a:pPr algn="ctr" indent="0" marL="0">
              <a:buNone/>
            </a:pPr>
            <a:r>
              <a:rPr lang="en-US" sz="1500" b="1" dirty="0">
                <a:solidFill>
                  <a:srgbClr val="B57A1A"/>
                </a:solidFill>
                <a:latin typeface="Calibri" pitchFamily="34" charset="0"/>
                <a:ea typeface="Calibri" pitchFamily="34" charset="-122"/>
                <a:cs typeface="Calibri" pitchFamily="34" charset="-120"/>
              </a:rPr>
              <a:t>E8</a:t>
            </a:r>
            <a:endParaRPr lang="en-US" sz="1500" dirty="0"/>
          </a:p>
        </p:txBody>
      </p:sp>
      <p:sp>
        <p:nvSpPr>
          <p:cNvPr id="43" name="Text 41"/>
          <p:cNvSpPr txBox="1"/>
          <p:nvPr/>
        </p:nvSpPr>
        <p:spPr>
          <a:xfrm>
            <a:off x="10061943" y="2606040"/>
            <a:ext cx="127936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Final recipe</a:t>
            </a:r>
            <a:endParaRPr lang="en-US" sz="1300" dirty="0"/>
          </a:p>
        </p:txBody>
      </p:sp>
      <p:sp>
        <p:nvSpPr>
          <p:cNvPr id="44" name="Text 42"/>
          <p:cNvSpPr txBox="1"/>
          <p:nvPr/>
        </p:nvSpPr>
        <p:spPr>
          <a:xfrm>
            <a:off x="10061943" y="3108960"/>
            <a:ext cx="1279360" cy="11887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full data, DDP, GradScaler, cosine</a:t>
            </a:r>
            <a:endParaRPr lang="en-US" sz="1150" dirty="0"/>
          </a:p>
        </p:txBody>
      </p:sp>
      <p:sp>
        <p:nvSpPr>
          <p:cNvPr id="45" name="Shape 43"/>
          <p:cNvSpPr/>
          <p:nvPr/>
        </p:nvSpPr>
        <p:spPr>
          <a:xfrm>
            <a:off x="548640" y="4343400"/>
            <a:ext cx="11064240" cy="1417320"/>
          </a:xfrm>
          <a:prstGeom prst="roundRect">
            <a:avLst>
              <a:gd name="adj" fmla="val 7742"/>
            </a:avLst>
          </a:prstGeom>
          <a:solidFill>
            <a:srgbClr val="E8F3F2"/>
          </a:solidFill>
          <a:ln w="12700">
            <a:solidFill>
              <a:srgbClr val="E8F3F2"/>
            </a:solidFill>
            <a:prstDash val="solid"/>
          </a:ln>
        </p:spPr>
      </p:sp>
      <p:sp>
        <p:nvSpPr>
          <p:cNvPr id="46" name="Shape 44"/>
          <p:cNvSpPr/>
          <p:nvPr/>
        </p:nvSpPr>
        <p:spPr>
          <a:xfrm>
            <a:off x="822960" y="4709160"/>
            <a:ext cx="502920" cy="502920"/>
          </a:xfrm>
          <a:prstGeom prst="ellipse">
            <a:avLst/>
          </a:prstGeom>
          <a:solidFill>
            <a:srgbClr val="0F6E74"/>
          </a:solidFill>
          <a:ln w="12700">
            <a:solidFill>
              <a:srgbClr val="0F6E74"/>
            </a:solidFill>
            <a:prstDash val="solid"/>
          </a:ln>
        </p:spPr>
      </p:sp>
      <p:pic>
        <p:nvPicPr>
          <p:cNvPr id="47" name="Image 0" descr="preencoded.png">    </p:cNvPr>
          <p:cNvPicPr>
            <a:picLocks noChangeAspect="1"/>
          </p:cNvPicPr>
          <p:nvPr/>
        </p:nvPicPr>
        <p:blipFill>
          <a:blip r:embed="rId1"/>
          <a:stretch>
            <a:fillRect/>
          </a:stretch>
        </p:blipFill>
        <p:spPr>
          <a:xfrm>
            <a:off x="933602" y="4819802"/>
            <a:ext cx="281635" cy="281635"/>
          </a:xfrm>
          <a:prstGeom prst="rect">
            <a:avLst/>
          </a:prstGeom>
        </p:spPr>
      </p:pic>
      <p:sp>
        <p:nvSpPr>
          <p:cNvPr id="48" name="Text 45"/>
          <p:cNvSpPr txBox="1"/>
          <p:nvPr/>
        </p:nvSpPr>
        <p:spPr>
          <a:xfrm>
            <a:off x="1508760" y="4526280"/>
            <a:ext cx="9875520" cy="1051560"/>
          </a:xfrm>
          <a:prstGeom prst="rect">
            <a:avLst/>
          </a:prstGeom>
          <a:noFill/>
          <a:ln/>
        </p:spPr>
        <p:txBody>
          <a:bodyPr wrap="square" lIns="0" tIns="0" rIns="0" bIns="0" rtlCol="0" anchor="ctr"/>
          <a:lstStyle/>
          <a:p>
            <a:pPr indent="0" marL="0">
              <a:buNone/>
            </a:pPr>
            <a:r>
              <a:rPr lang="en-US" sz="1400" b="1" dirty="0">
                <a:solidFill>
                  <a:srgbClr val="0F6E74"/>
                </a:solidFill>
                <a:latin typeface="Calibri" pitchFamily="34" charset="0"/>
                <a:ea typeface="Calibri" pitchFamily="34" charset="-122"/>
                <a:cs typeface="Calibri" pitchFamily="34" charset="-120"/>
              </a:rPr>
              <a:t>Evaluation track: </a:t>
            </a:r>
            <a:pPr indent="0" marL="0">
              <a:buNone/>
            </a:pPr>
            <a:r>
              <a:rPr lang="en-US" sz="1400" dirty="0">
                <a:solidFill>
                  <a:srgbClr val="1B2B34"/>
                </a:solidFill>
                <a:latin typeface="Calibri" pitchFamily="34" charset="0"/>
                <a:ea typeface="Calibri" pitchFamily="34" charset="-122"/>
                <a:cs typeface="Calibri" pitchFamily="34" charset="-120"/>
              </a:rPr>
              <a:t>every run re-scored with BERT-BLEU₄ + paired bootstrap CIs; a decoding study (greedy, beam, MBR) on 200 val images; a data-scaling curve from E8 checkpoints; final verdict on 1,000 held-out test images.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Ablations: adapt the ViT, keep the resolution</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2,000 training images, 200 validation images, greedy decoding</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818120" cy="914400"/>
        </p:xfrm>
        <a:graphic>
          <a:graphicData uri="http://schemas.openxmlformats.org/drawingml/2006/table">
            <a:tbl>
              <a:tblPr/>
              <a:tblGrid>
                <a:gridCol w="548640"/>
                <a:gridCol w="2514600"/>
                <a:gridCol w="1645920"/>
                <a:gridCol w="594360"/>
                <a:gridCol w="731520"/>
                <a:gridCol w="914400"/>
                <a:gridCol w="86868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Run</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BERT-BLEU₄ [95% CI]</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LP</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BLEU-4</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Train time</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Peak memory</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r>
              <a:tr h="438912">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E0</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LoRA on LLM attention</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0.6586 [0.644, 0.672]</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0.846</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0.088</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19.5 min</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10.8 GB</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r>
              <a:tr h="438912">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E1</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+ 324 tokens + grad. checkpointing</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0.6541 [0.638, 0.670]</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0.837</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0.089</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b="1" dirty="0">
                          <a:solidFill>
                            <a:srgbClr val="B5473A"/>
                          </a:solidFill>
                          <a:latin typeface="Calibri" pitchFamily="34" charset="0"/>
                          <a:ea typeface="Calibri" pitchFamily="34" charset="-122"/>
                          <a:cs typeface="Calibri" pitchFamily="34" charset="-120"/>
                        </a:rPr>
                        <a:t>47.3 min</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b="1" dirty="0">
                          <a:solidFill>
                            <a:srgbClr val="B5473A"/>
                          </a:solidFill>
                          <a:latin typeface="Calibri" pitchFamily="34" charset="0"/>
                          <a:ea typeface="Calibri" pitchFamily="34" charset="-122"/>
                          <a:cs typeface="Calibri" pitchFamily="34" charset="-120"/>
                        </a:rPr>
                        <a:t>14.3 GB</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r>
              <a:tr h="438912">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E2</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 ViT LoRA, last 8 blocks</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0.6625 [0.648, 0.676]</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0.851</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0.096</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21.3 min</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11.1 GB</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r>
              <a:tr h="438912">
                <a:tc>
                  <a:txBody>
                    <a:bodyPr/>
                    <a:lstStyle/>
                    <a:p>
                      <a:pPr indent="0" marL="0">
                        <a:buNone/>
                      </a:pPr>
                      <a:r>
                        <a:rPr lang="en-US" sz="1200" b="1" dirty="0">
                          <a:solidFill>
                            <a:srgbClr val="1B2B34"/>
                          </a:solidFill>
                          <a:latin typeface="Calibri" pitchFamily="34" charset="0"/>
                          <a:ea typeface="Calibri" pitchFamily="34" charset="-122"/>
                          <a:cs typeface="Calibri" pitchFamily="34" charset="-120"/>
                        </a:rPr>
                        <a:t>E3</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c>
                  <a:txBody>
                    <a:bodyPr/>
                    <a:lstStyle/>
                    <a:p>
                      <a:pPr indent="0" marL="0">
                        <a:buNone/>
                      </a:pPr>
                      <a:r>
                        <a:rPr lang="en-US" sz="1200" b="1" dirty="0">
                          <a:solidFill>
                            <a:srgbClr val="1B2B34"/>
                          </a:solidFill>
                          <a:latin typeface="Calibri" pitchFamily="34" charset="0"/>
                          <a:ea typeface="Calibri" pitchFamily="34" charset="-122"/>
                          <a:cs typeface="Calibri" pitchFamily="34" charset="-120"/>
                        </a:rPr>
                        <a:t>+ ViT LoRA, all 32 blocks</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c>
                  <a:txBody>
                    <a:bodyPr/>
                    <a:lstStyle/>
                    <a:p>
                      <a:pPr indent="0" marL="0">
                        <a:buNone/>
                      </a:pPr>
                      <a:r>
                        <a:rPr lang="en-US" sz="1200" b="1" dirty="0">
                          <a:solidFill>
                            <a:srgbClr val="1B2B34"/>
                          </a:solidFill>
                          <a:latin typeface="Calibri" pitchFamily="34" charset="0"/>
                          <a:ea typeface="Calibri" pitchFamily="34" charset="-122"/>
                          <a:cs typeface="Calibri" pitchFamily="34" charset="-120"/>
                        </a:rPr>
                        <a:t>0.6659 [0.652, 0.678]</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c>
                  <a:txBody>
                    <a:bodyPr/>
                    <a:lstStyle/>
                    <a:p>
                      <a:pPr indent="0" marL="0">
                        <a:buNone/>
                      </a:pPr>
                      <a:r>
                        <a:rPr lang="en-US" sz="1200" b="1" dirty="0">
                          <a:solidFill>
                            <a:srgbClr val="1B2B34"/>
                          </a:solidFill>
                          <a:latin typeface="Calibri" pitchFamily="34" charset="0"/>
                          <a:ea typeface="Calibri" pitchFamily="34" charset="-122"/>
                          <a:cs typeface="Calibri" pitchFamily="34" charset="-120"/>
                        </a:rPr>
                        <a:t>0.856</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c>
                  <a:txBody>
                    <a:bodyPr/>
                    <a:lstStyle/>
                    <a:p>
                      <a:pPr indent="0" marL="0">
                        <a:buNone/>
                      </a:pPr>
                      <a:r>
                        <a:rPr lang="en-US" sz="1200" b="1" dirty="0">
                          <a:solidFill>
                            <a:srgbClr val="1B2B34"/>
                          </a:solidFill>
                          <a:latin typeface="Calibri" pitchFamily="34" charset="0"/>
                          <a:ea typeface="Calibri" pitchFamily="34" charset="-122"/>
                          <a:cs typeface="Calibri" pitchFamily="34" charset="-120"/>
                        </a:rPr>
                        <a:t>0.098</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c>
                  <a:txBody>
                    <a:bodyPr/>
                    <a:lstStyle/>
                    <a:p>
                      <a:pPr indent="0" marL="0">
                        <a:buNone/>
                      </a:pPr>
                      <a:r>
                        <a:rPr lang="en-US" sz="1200" b="1" dirty="0">
                          <a:solidFill>
                            <a:srgbClr val="1B2B34"/>
                          </a:solidFill>
                          <a:latin typeface="Calibri" pitchFamily="34" charset="0"/>
                          <a:ea typeface="Calibri" pitchFamily="34" charset="-122"/>
                          <a:cs typeface="Calibri" pitchFamily="34" charset="-120"/>
                        </a:rPr>
                        <a:t>27.4 min</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c>
                  <a:txBody>
                    <a:bodyPr/>
                    <a:lstStyle/>
                    <a:p>
                      <a:pPr indent="0" marL="0">
                        <a:buNone/>
                      </a:pPr>
                      <a:r>
                        <a:rPr lang="en-US" sz="1200" b="1" dirty="0">
                          <a:solidFill>
                            <a:srgbClr val="1B2B34"/>
                          </a:solidFill>
                          <a:latin typeface="Calibri" pitchFamily="34" charset="0"/>
                          <a:ea typeface="Calibri" pitchFamily="34" charset="-122"/>
                          <a:cs typeface="Calibri" pitchFamily="34" charset="-120"/>
                        </a:rPr>
                        <a:t>13.1 GB</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r>
              <a:tr h="438912">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E4</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E3 + warmup/decay (crashed)</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0.6600 [0.644, 0.675]</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0.843</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0.094</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23.2 min*</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13.7 GB</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r>
              <a:tr h="438912">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E5</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E3 + grad. accumulation 2</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0.6607 [0.646, 0.675]</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0.844</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0.091</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27.0 min</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13.3 GB</a:t>
                      </a:r>
                      <a:endParaRPr lang="en-US" sz="120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r>
            </a:tbl>
          </a:graphicData>
        </a:graphic>
      </p:graphicFrame>
      <p:sp>
        <p:nvSpPr>
          <p:cNvPr id="5" name="Text 2"/>
          <p:cNvSpPr txBox="1"/>
          <p:nvPr/>
        </p:nvSpPr>
        <p:spPr>
          <a:xfrm>
            <a:off x="548640" y="4800600"/>
            <a:ext cx="7772400" cy="27432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 stopped at step 1,690 / 2,000 on a non-finite fp16 loss</a:t>
            </a:r>
            <a:endParaRPr lang="en-US" sz="1100" dirty="0"/>
          </a:p>
        </p:txBody>
      </p:sp>
      <p:sp>
        <p:nvSpPr>
          <p:cNvPr id="6" name="Shape 3"/>
          <p:cNvSpPr/>
          <p:nvPr/>
        </p:nvSpPr>
        <p:spPr>
          <a:xfrm>
            <a:off x="8641080" y="1600200"/>
            <a:ext cx="3017520" cy="1261872"/>
          </a:xfrm>
          <a:prstGeom prst="roundRect">
            <a:avLst>
              <a:gd name="adj" fmla="val 8696"/>
            </a:avLst>
          </a:prstGeom>
          <a:solidFill>
            <a:srgbClr val="E8F3F2"/>
          </a:solidFill>
          <a:ln w="12700">
            <a:solidFill>
              <a:srgbClr val="E8F3F2"/>
            </a:solidFill>
            <a:prstDash val="solid"/>
          </a:ln>
        </p:spPr>
      </p:sp>
      <p:sp>
        <p:nvSpPr>
          <p:cNvPr id="7" name="Text 4"/>
          <p:cNvSpPr txBox="1"/>
          <p:nvPr/>
        </p:nvSpPr>
        <p:spPr>
          <a:xfrm>
            <a:off x="8823960" y="1709928"/>
            <a:ext cx="2697480" cy="347472"/>
          </a:xfrm>
          <a:prstGeom prst="rect">
            <a:avLst/>
          </a:prstGeom>
          <a:noFill/>
          <a:ln/>
        </p:spPr>
        <p:txBody>
          <a:bodyPr wrap="square" lIns="0" tIns="0" rIns="0" bIns="0" rtlCol="0" anchor="t"/>
          <a:lstStyle/>
          <a:p>
            <a:pPr indent="0" marL="0">
              <a:buNone/>
            </a:pPr>
            <a:r>
              <a:rPr lang="en-US" sz="1400" b="1" dirty="0">
                <a:solidFill>
                  <a:srgbClr val="0F6E74"/>
                </a:solidFill>
                <a:latin typeface="Calibri" pitchFamily="34" charset="0"/>
                <a:ea typeface="Calibri" pitchFamily="34" charset="-122"/>
                <a:cs typeface="Calibri" pitchFamily="34" charset="-120"/>
              </a:rPr>
              <a:t>Vision adaptation wins</a:t>
            </a:r>
            <a:endParaRPr lang="en-US" sz="1400" dirty="0"/>
          </a:p>
        </p:txBody>
      </p:sp>
      <p:sp>
        <p:nvSpPr>
          <p:cNvPr id="8" name="Text 5"/>
          <p:cNvSpPr txBox="1"/>
          <p:nvPr/>
        </p:nvSpPr>
        <p:spPr>
          <a:xfrm>
            <a:off x="8823960" y="2057400"/>
            <a:ext cx="2697480" cy="777240"/>
          </a:xfrm>
          <a:prstGeom prst="rect">
            <a:avLst/>
          </a:prstGeom>
          <a:noFill/>
          <a:ln/>
        </p:spPr>
        <p:txBody>
          <a:bodyPr wrap="square" lIns="0" tIns="0" rIns="0" bIns="0" rtlCol="0" anchor="t"/>
          <a:lstStyle/>
          <a:p>
            <a:pPr indent="0" marL="0">
              <a:buNone/>
            </a:pPr>
            <a:r>
              <a:rPr lang="en-US" sz="1150" dirty="0">
                <a:solidFill>
                  <a:srgbClr val="1B2B34"/>
                </a:solidFill>
                <a:latin typeface="Calibri" pitchFamily="34" charset="0"/>
                <a:ea typeface="Calibri" pitchFamily="34" charset="-122"/>
                <a:cs typeface="Calibri" pitchFamily="34" charset="-120"/>
              </a:rPr>
              <a:t>Overhead imagery is far from the pre-training data: adapting all 32 ViT blocks gave the best score, at +41% time.</a:t>
            </a:r>
            <a:endParaRPr lang="en-US" sz="1150" dirty="0"/>
          </a:p>
        </p:txBody>
      </p:sp>
      <p:sp>
        <p:nvSpPr>
          <p:cNvPr id="9" name="Shape 6"/>
          <p:cNvSpPr/>
          <p:nvPr/>
        </p:nvSpPr>
        <p:spPr>
          <a:xfrm>
            <a:off x="8641080" y="3017520"/>
            <a:ext cx="3017520" cy="1261872"/>
          </a:xfrm>
          <a:prstGeom prst="roundRect">
            <a:avLst>
              <a:gd name="adj" fmla="val 8696"/>
            </a:avLst>
          </a:prstGeom>
          <a:solidFill>
            <a:srgbClr val="E8F3F2"/>
          </a:solidFill>
          <a:ln w="12700">
            <a:solidFill>
              <a:srgbClr val="E8F3F2"/>
            </a:solidFill>
            <a:prstDash val="solid"/>
          </a:ln>
        </p:spPr>
      </p:sp>
      <p:sp>
        <p:nvSpPr>
          <p:cNvPr id="10" name="Text 7"/>
          <p:cNvSpPr txBox="1"/>
          <p:nvPr/>
        </p:nvSpPr>
        <p:spPr>
          <a:xfrm>
            <a:off x="8823960" y="3127248"/>
            <a:ext cx="2697480" cy="347472"/>
          </a:xfrm>
          <a:prstGeom prst="rect">
            <a:avLst/>
          </a:prstGeom>
          <a:noFill/>
          <a:ln/>
        </p:spPr>
        <p:txBody>
          <a:bodyPr wrap="square" lIns="0" tIns="0" rIns="0" bIns="0" rtlCol="0" anchor="t"/>
          <a:lstStyle/>
          <a:p>
            <a:pPr indent="0" marL="0">
              <a:buNone/>
            </a:pPr>
            <a:r>
              <a:rPr lang="en-US" sz="1400" b="1" dirty="0">
                <a:solidFill>
                  <a:srgbClr val="0F6E74"/>
                </a:solidFill>
                <a:latin typeface="Calibri" pitchFamily="34" charset="0"/>
                <a:ea typeface="Calibri" pitchFamily="34" charset="-122"/>
                <a:cs typeface="Calibri" pitchFamily="34" charset="-120"/>
              </a:rPr>
              <a:t>Resolution does not</a:t>
            </a:r>
            <a:endParaRPr lang="en-US" sz="1400" dirty="0"/>
          </a:p>
        </p:txBody>
      </p:sp>
      <p:sp>
        <p:nvSpPr>
          <p:cNvPr id="11" name="Text 8"/>
          <p:cNvSpPr txBox="1"/>
          <p:nvPr/>
        </p:nvSpPr>
        <p:spPr>
          <a:xfrm>
            <a:off x="8823960" y="3474720"/>
            <a:ext cx="2697480" cy="777240"/>
          </a:xfrm>
          <a:prstGeom prst="rect">
            <a:avLst/>
          </a:prstGeom>
          <a:noFill/>
          <a:ln/>
        </p:spPr>
        <p:txBody>
          <a:bodyPr wrap="square" lIns="0" tIns="0" rIns="0" bIns="0" rtlCol="0" anchor="t"/>
          <a:lstStyle/>
          <a:p>
            <a:pPr indent="0" marL="0">
              <a:buNone/>
            </a:pPr>
            <a:r>
              <a:rPr lang="en-US" sz="1150" dirty="0">
                <a:solidFill>
                  <a:srgbClr val="1B2B34"/>
                </a:solidFill>
                <a:latin typeface="Calibri" pitchFamily="34" charset="0"/>
                <a:ea typeface="Calibri" pitchFamily="34" charset="-122"/>
                <a:cs typeface="Calibri" pitchFamily="34" charset="-120"/>
              </a:rPr>
              <a:t>324 instead of 256 visual tokens: 2.4× time, +3.4 GB, lower score. The 256-token budget was kept.</a:t>
            </a:r>
            <a:endParaRPr lang="en-US" sz="1150" dirty="0"/>
          </a:p>
        </p:txBody>
      </p:sp>
      <p:sp>
        <p:nvSpPr>
          <p:cNvPr id="12" name="Shape 9"/>
          <p:cNvSpPr/>
          <p:nvPr/>
        </p:nvSpPr>
        <p:spPr>
          <a:xfrm>
            <a:off x="8641080" y="4434840"/>
            <a:ext cx="3017520" cy="1261872"/>
          </a:xfrm>
          <a:prstGeom prst="roundRect">
            <a:avLst>
              <a:gd name="adj" fmla="val 8696"/>
            </a:avLst>
          </a:prstGeom>
          <a:solidFill>
            <a:srgbClr val="FBF0DC"/>
          </a:solidFill>
          <a:ln w="12700">
            <a:solidFill>
              <a:srgbClr val="FBF0DC"/>
            </a:solidFill>
            <a:prstDash val="solid"/>
          </a:ln>
        </p:spPr>
      </p:sp>
      <p:sp>
        <p:nvSpPr>
          <p:cNvPr id="13" name="Text 10"/>
          <p:cNvSpPr txBox="1"/>
          <p:nvPr/>
        </p:nvSpPr>
        <p:spPr>
          <a:xfrm>
            <a:off x="8823960" y="4544568"/>
            <a:ext cx="2697480" cy="347472"/>
          </a:xfrm>
          <a:prstGeom prst="rect">
            <a:avLst/>
          </a:prstGeom>
          <a:noFill/>
          <a:ln/>
        </p:spPr>
        <p:txBody>
          <a:bodyPr wrap="square" lIns="0" tIns="0" rIns="0" bIns="0" rtlCol="0" anchor="t"/>
          <a:lstStyle/>
          <a:p>
            <a:pPr indent="0" marL="0">
              <a:buNone/>
            </a:pPr>
            <a:r>
              <a:rPr lang="en-US" sz="1400" b="1" dirty="0">
                <a:solidFill>
                  <a:srgbClr val="B57A1A"/>
                </a:solidFill>
                <a:latin typeface="Calibri" pitchFamily="34" charset="0"/>
                <a:ea typeface="Calibri" pitchFamily="34" charset="-122"/>
                <a:cs typeface="Calibri" pitchFamily="34" charset="-120"/>
              </a:rPr>
              <a:t>200 images cannot rank these</a:t>
            </a:r>
            <a:endParaRPr lang="en-US" sz="1400" dirty="0"/>
          </a:p>
        </p:txBody>
      </p:sp>
      <p:sp>
        <p:nvSpPr>
          <p:cNvPr id="14" name="Text 11"/>
          <p:cNvSpPr txBox="1"/>
          <p:nvPr/>
        </p:nvSpPr>
        <p:spPr>
          <a:xfrm>
            <a:off x="8823960" y="4892040"/>
            <a:ext cx="2697480" cy="777240"/>
          </a:xfrm>
          <a:prstGeom prst="rect">
            <a:avLst/>
          </a:prstGeom>
          <a:noFill/>
          <a:ln/>
        </p:spPr>
        <p:txBody>
          <a:bodyPr wrap="square" lIns="0" tIns="0" rIns="0" bIns="0" rtlCol="0" anchor="t"/>
          <a:lstStyle/>
          <a:p>
            <a:pPr indent="0" marL="0">
              <a:buNone/>
            </a:pPr>
            <a:r>
              <a:rPr lang="en-US" sz="1150" dirty="0">
                <a:solidFill>
                  <a:srgbClr val="1B2B34"/>
                </a:solidFill>
                <a:latin typeface="Calibri" pitchFamily="34" charset="0"/>
                <a:ea typeface="Calibri" pitchFamily="34" charset="-122"/>
                <a:cs typeface="Calibri" pitchFamily="34" charset="-120"/>
              </a:rPr>
              <a:t>CIs are ≈ ±0.013 wide; no run is significantly above E0. The final verdict uses 1,000 test images.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Training efficiency: what bought speed, what cost it</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Throughput in training images per second (wall-clock)</a:t>
            </a:r>
            <a:endParaRPr lang="en-US" sz="1500" dirty="0"/>
          </a:p>
        </p:txBody>
      </p:sp>
      <p:graphicFrame>
        <p:nvGraphicFramePr>
          <p:cNvPr id="4" name="Chart 0" descr=""/>
          <p:cNvGraphicFramePr/>
          <p:nvPr/>
        </p:nvGraphicFramePr>
        <p:xfrm>
          <a:off x="457200" y="1508760"/>
          <a:ext cx="667512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600200"/>
            <a:ext cx="502920" cy="502920"/>
          </a:xfrm>
          <a:prstGeom prst="ellipse">
            <a:avLst/>
          </a:prstGeom>
          <a:solidFill>
            <a:srgbClr val="B5473A"/>
          </a:solidFill>
          <a:ln w="12700">
            <a:solidFill>
              <a:srgbClr val="B5473A"/>
            </a:solidFill>
            <a:prstDash val="solid"/>
          </a:ln>
        </p:spPr>
      </p:sp>
      <p:pic>
        <p:nvPicPr>
          <p:cNvPr id="6" name="Image 0" descr="preencoded.png">    </p:cNvPr>
          <p:cNvPicPr>
            <a:picLocks noChangeAspect="1"/>
          </p:cNvPicPr>
          <p:nvPr/>
        </p:nvPicPr>
        <p:blipFill>
          <a:blip r:embed="rId2"/>
          <a:stretch>
            <a:fillRect/>
          </a:stretch>
        </p:blipFill>
        <p:spPr>
          <a:xfrm>
            <a:off x="7608722" y="1710842"/>
            <a:ext cx="281635" cy="281635"/>
          </a:xfrm>
          <a:prstGeom prst="rect">
            <a:avLst/>
          </a:prstGeom>
        </p:spPr>
      </p:pic>
      <p:sp>
        <p:nvSpPr>
          <p:cNvPr id="7" name="Text 3"/>
          <p:cNvSpPr txBox="1"/>
          <p:nvPr/>
        </p:nvSpPr>
        <p:spPr>
          <a:xfrm>
            <a:off x="8183880" y="1581912"/>
            <a:ext cx="3520440" cy="347472"/>
          </a:xfrm>
          <a:prstGeom prst="rect">
            <a:avLst/>
          </a:prstGeom>
          <a:noFill/>
          <a:ln/>
        </p:spPr>
        <p:txBody>
          <a:bodyPr wrap="square" lIns="0" tIns="0" rIns="0" bIns="0" rtlCol="0" anchor="t"/>
          <a:lstStyle/>
          <a:p>
            <a:pPr indent="0" marL="0">
              <a:buNone/>
            </a:pPr>
            <a:r>
              <a:rPr lang="en-US" sz="1450" b="1" dirty="0">
                <a:solidFill>
                  <a:srgbClr val="1B2B34"/>
                </a:solidFill>
                <a:latin typeface="Calibri" pitchFamily="34" charset="0"/>
                <a:ea typeface="Calibri" pitchFamily="34" charset="-122"/>
                <a:cs typeface="Calibri" pitchFamily="34" charset="-120"/>
              </a:rPr>
              <a:t>More pixels (E1)</a:t>
            </a:r>
            <a:endParaRPr lang="en-US" sz="1450" dirty="0"/>
          </a:p>
        </p:txBody>
      </p:sp>
      <p:sp>
        <p:nvSpPr>
          <p:cNvPr id="8" name="Text 4"/>
          <p:cNvSpPr txBox="1"/>
          <p:nvPr/>
        </p:nvSpPr>
        <p:spPr>
          <a:xfrm>
            <a:off x="8183880" y="1947672"/>
            <a:ext cx="3520440" cy="59436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0.71 img/s, 2.4× slower, +3.4 GB, no gain</a:t>
            </a:r>
            <a:endParaRPr lang="en-US" sz="1250" dirty="0"/>
          </a:p>
        </p:txBody>
      </p:sp>
      <p:sp>
        <p:nvSpPr>
          <p:cNvPr id="9" name="Shape 5"/>
          <p:cNvSpPr/>
          <p:nvPr/>
        </p:nvSpPr>
        <p:spPr>
          <a:xfrm>
            <a:off x="7498080" y="2679192"/>
            <a:ext cx="502920" cy="502920"/>
          </a:xfrm>
          <a:prstGeom prst="ellipse">
            <a:avLst/>
          </a:prstGeom>
          <a:solidFill>
            <a:srgbClr val="0F6E74"/>
          </a:solidFill>
          <a:ln w="12700">
            <a:solidFill>
              <a:srgbClr val="0F6E74"/>
            </a:solidFill>
            <a:prstDash val="solid"/>
          </a:ln>
        </p:spPr>
      </p:sp>
      <p:pic>
        <p:nvPicPr>
          <p:cNvPr id="10" name="Image 1" descr="preencoded.png">    </p:cNvPr>
          <p:cNvPicPr>
            <a:picLocks noChangeAspect="1"/>
          </p:cNvPicPr>
          <p:nvPr/>
        </p:nvPicPr>
        <p:blipFill>
          <a:blip r:embed="rId3"/>
          <a:stretch>
            <a:fillRect/>
          </a:stretch>
        </p:blipFill>
        <p:spPr>
          <a:xfrm>
            <a:off x="7608722" y="2789834"/>
            <a:ext cx="281635" cy="281635"/>
          </a:xfrm>
          <a:prstGeom prst="rect">
            <a:avLst/>
          </a:prstGeom>
        </p:spPr>
      </p:pic>
      <p:sp>
        <p:nvSpPr>
          <p:cNvPr id="11" name="Text 6"/>
          <p:cNvSpPr txBox="1"/>
          <p:nvPr/>
        </p:nvSpPr>
        <p:spPr>
          <a:xfrm>
            <a:off x="8183880" y="2660904"/>
            <a:ext cx="3520440" cy="347472"/>
          </a:xfrm>
          <a:prstGeom prst="rect">
            <a:avLst/>
          </a:prstGeom>
          <a:noFill/>
          <a:ln/>
        </p:spPr>
        <p:txBody>
          <a:bodyPr wrap="square" lIns="0" tIns="0" rIns="0" bIns="0" rtlCol="0" anchor="t"/>
          <a:lstStyle/>
          <a:p>
            <a:pPr indent="0" marL="0">
              <a:buNone/>
            </a:pPr>
            <a:r>
              <a:rPr lang="en-US" sz="1450" b="1" dirty="0">
                <a:solidFill>
                  <a:srgbClr val="1B2B34"/>
                </a:solidFill>
                <a:latin typeface="Calibri" pitchFamily="34" charset="0"/>
                <a:ea typeface="Calibri" pitchFamily="34" charset="-122"/>
                <a:cs typeface="Calibri" pitchFamily="34" charset="-120"/>
              </a:rPr>
              <a:t>ViT LoRA, all blocks (E3)</a:t>
            </a:r>
            <a:endParaRPr lang="en-US" sz="1450" dirty="0"/>
          </a:p>
        </p:txBody>
      </p:sp>
      <p:sp>
        <p:nvSpPr>
          <p:cNvPr id="12" name="Text 7"/>
          <p:cNvSpPr txBox="1"/>
          <p:nvPr/>
        </p:nvSpPr>
        <p:spPr>
          <a:xfrm>
            <a:off x="8183880" y="3026664"/>
            <a:ext cx="3520440" cy="59436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+41% time over E0 for the best 2k-image score</a:t>
            </a:r>
            <a:endParaRPr lang="en-US" sz="1250" dirty="0"/>
          </a:p>
        </p:txBody>
      </p:sp>
      <p:sp>
        <p:nvSpPr>
          <p:cNvPr id="13" name="Shape 8"/>
          <p:cNvSpPr/>
          <p:nvPr/>
        </p:nvSpPr>
        <p:spPr>
          <a:xfrm>
            <a:off x="7498080" y="3758184"/>
            <a:ext cx="502920" cy="502920"/>
          </a:xfrm>
          <a:prstGeom prst="ellipse">
            <a:avLst/>
          </a:prstGeom>
          <a:solidFill>
            <a:srgbClr val="E8A33D"/>
          </a:solidFill>
          <a:ln w="12700">
            <a:solidFill>
              <a:srgbClr val="E8A33D"/>
            </a:solidFill>
            <a:prstDash val="solid"/>
          </a:ln>
        </p:spPr>
      </p:sp>
      <p:pic>
        <p:nvPicPr>
          <p:cNvPr id="14" name="Image 2" descr="preencoded.png">    </p:cNvPr>
          <p:cNvPicPr>
            <a:picLocks noChangeAspect="1"/>
          </p:cNvPicPr>
          <p:nvPr/>
        </p:nvPicPr>
        <p:blipFill>
          <a:blip r:embed="rId4"/>
          <a:stretch>
            <a:fillRect/>
          </a:stretch>
        </p:blipFill>
        <p:spPr>
          <a:xfrm>
            <a:off x="7608722" y="3868826"/>
            <a:ext cx="281635" cy="281635"/>
          </a:xfrm>
          <a:prstGeom prst="rect">
            <a:avLst/>
          </a:prstGeom>
        </p:spPr>
      </p:pic>
      <p:sp>
        <p:nvSpPr>
          <p:cNvPr id="15" name="Text 9"/>
          <p:cNvSpPr txBox="1"/>
          <p:nvPr/>
        </p:nvSpPr>
        <p:spPr>
          <a:xfrm>
            <a:off x="8183880" y="3739896"/>
            <a:ext cx="3520440" cy="347472"/>
          </a:xfrm>
          <a:prstGeom prst="rect">
            <a:avLst/>
          </a:prstGeom>
          <a:noFill/>
          <a:ln/>
        </p:spPr>
        <p:txBody>
          <a:bodyPr wrap="square" lIns="0" tIns="0" rIns="0" bIns="0" rtlCol="0" anchor="t"/>
          <a:lstStyle/>
          <a:p>
            <a:pPr indent="0" marL="0">
              <a:buNone/>
            </a:pPr>
            <a:r>
              <a:rPr lang="en-US" sz="1450" b="1" dirty="0">
                <a:solidFill>
                  <a:srgbClr val="1B2B34"/>
                </a:solidFill>
                <a:latin typeface="Calibri" pitchFamily="34" charset="0"/>
                <a:ea typeface="Calibri" pitchFamily="34" charset="-122"/>
                <a:cs typeface="Calibri" pitchFamily="34" charset="-120"/>
              </a:rPr>
              <a:t>DDP on 2× T4 (E8)</a:t>
            </a:r>
            <a:endParaRPr lang="en-US" sz="1450" dirty="0"/>
          </a:p>
        </p:txBody>
      </p:sp>
      <p:sp>
        <p:nvSpPr>
          <p:cNvPr id="16" name="Text 10"/>
          <p:cNvSpPr txBox="1"/>
          <p:nvPr/>
        </p:nvSpPr>
        <p:spPr>
          <a:xfrm>
            <a:off x="8183880" y="4105656"/>
            <a:ext cx="3520440" cy="59436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2.49 img/s ≈ 1.25 per GPU: near-linear scaling; 12.7 GB per GPU</a:t>
            </a:r>
            <a:endParaRPr lang="en-US" sz="1250" dirty="0"/>
          </a:p>
        </p:txBody>
      </p:sp>
      <p:sp>
        <p:nvSpPr>
          <p:cNvPr id="17" name="Shape 11"/>
          <p:cNvSpPr/>
          <p:nvPr/>
        </p:nvSpPr>
        <p:spPr>
          <a:xfrm>
            <a:off x="7498080" y="4837176"/>
            <a:ext cx="502920" cy="502920"/>
          </a:xfrm>
          <a:prstGeom prst="ellipse">
            <a:avLst/>
          </a:prstGeom>
          <a:solidFill>
            <a:srgbClr val="0F6E74"/>
          </a:solidFill>
          <a:ln w="12700">
            <a:solidFill>
              <a:srgbClr val="0F6E74"/>
            </a:solidFill>
            <a:prstDash val="solid"/>
          </a:ln>
        </p:spPr>
      </p:sp>
      <p:pic>
        <p:nvPicPr>
          <p:cNvPr id="18" name="Image 3" descr="preencoded.png">    </p:cNvPr>
          <p:cNvPicPr>
            <a:picLocks noChangeAspect="1"/>
          </p:cNvPicPr>
          <p:nvPr/>
        </p:nvPicPr>
        <p:blipFill>
          <a:blip r:embed="rId5"/>
          <a:stretch>
            <a:fillRect/>
          </a:stretch>
        </p:blipFill>
        <p:spPr>
          <a:xfrm>
            <a:off x="7608722" y="4947818"/>
            <a:ext cx="281635" cy="281635"/>
          </a:xfrm>
          <a:prstGeom prst="rect">
            <a:avLst/>
          </a:prstGeom>
        </p:spPr>
      </p:pic>
      <p:sp>
        <p:nvSpPr>
          <p:cNvPr id="19" name="Text 12"/>
          <p:cNvSpPr txBox="1"/>
          <p:nvPr/>
        </p:nvSpPr>
        <p:spPr>
          <a:xfrm>
            <a:off x="8183880" y="4818888"/>
            <a:ext cx="3520440" cy="347472"/>
          </a:xfrm>
          <a:prstGeom prst="rect">
            <a:avLst/>
          </a:prstGeom>
          <a:noFill/>
          <a:ln/>
        </p:spPr>
        <p:txBody>
          <a:bodyPr wrap="square" lIns="0" tIns="0" rIns="0" bIns="0" rtlCol="0" anchor="t"/>
          <a:lstStyle/>
          <a:p>
            <a:pPr indent="0" marL="0">
              <a:buNone/>
            </a:pPr>
            <a:r>
              <a:rPr lang="en-US" sz="1450" b="1" dirty="0">
                <a:solidFill>
                  <a:srgbClr val="1B2B34"/>
                </a:solidFill>
                <a:latin typeface="Calibri" pitchFamily="34" charset="0"/>
                <a:ea typeface="Calibri" pitchFamily="34" charset="-122"/>
                <a:cs typeface="Calibri" pitchFamily="34" charset="-120"/>
              </a:rPr>
              <a:t>Accumulation + no_sync</a:t>
            </a:r>
            <a:endParaRPr lang="en-US" sz="1450" dirty="0"/>
          </a:p>
        </p:txBody>
      </p:sp>
      <p:sp>
        <p:nvSpPr>
          <p:cNvPr id="20" name="Text 13"/>
          <p:cNvSpPr txBox="1"/>
          <p:nvPr/>
        </p:nvSpPr>
        <p:spPr>
          <a:xfrm>
            <a:off x="8183880" y="5184648"/>
            <a:ext cx="3520440" cy="59436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effective batch 8; one all-reduce per optimizer step instead of four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Where the score is lost: length, not content</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BERT-BLEU₄ = content (geometric mean of P₁…P₄) × length penalty; 1,000 test images</a:t>
            </a:r>
            <a:endParaRPr lang="en-US" sz="1500" dirty="0"/>
          </a:p>
        </p:txBody>
      </p:sp>
      <p:graphicFrame>
        <p:nvGraphicFramePr>
          <p:cNvPr id="4" name="Chart 0" descr=""/>
          <p:cNvGraphicFramePr/>
          <p:nvPr/>
        </p:nvGraphicFramePr>
        <p:xfrm>
          <a:off x="457200" y="150876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600200"/>
            <a:ext cx="4069080" cy="1691640"/>
          </a:xfrm>
          <a:prstGeom prst="roundRect">
            <a:avLst>
              <a:gd name="adj" fmla="val 6486"/>
            </a:avLst>
          </a:prstGeom>
          <a:solidFill>
            <a:srgbClr val="FBF0DC"/>
          </a:solidFill>
          <a:ln w="12700">
            <a:solidFill>
              <a:srgbClr val="FBF0DC"/>
            </a:solidFill>
            <a:prstDash val="solid"/>
          </a:ln>
        </p:spPr>
      </p:sp>
      <p:sp>
        <p:nvSpPr>
          <p:cNvPr id="6" name="Text 3"/>
          <p:cNvSpPr txBox="1"/>
          <p:nvPr/>
        </p:nvSpPr>
        <p:spPr>
          <a:xfrm>
            <a:off x="7818120" y="1737360"/>
            <a:ext cx="3657600" cy="731520"/>
          </a:xfrm>
          <a:prstGeom prst="rect">
            <a:avLst/>
          </a:prstGeom>
          <a:noFill/>
          <a:ln/>
        </p:spPr>
        <p:txBody>
          <a:bodyPr wrap="square" lIns="0" tIns="0" rIns="0" bIns="0" rtlCol="0" anchor="ctr"/>
          <a:lstStyle/>
          <a:p>
            <a:pPr indent="0" marL="0">
              <a:buNone/>
            </a:pPr>
            <a:r>
              <a:rPr lang="en-US" sz="4000" b="1" dirty="0">
                <a:solidFill>
                  <a:srgbClr val="B57A1A"/>
                </a:solidFill>
                <a:latin typeface="Cambria" pitchFamily="34" charset="0"/>
                <a:ea typeface="Cambria" pitchFamily="34" charset="-122"/>
                <a:cs typeface="Cambria" pitchFamily="34" charset="-120"/>
              </a:rPr>
              <a:t>≈ 15%</a:t>
            </a:r>
            <a:endParaRPr lang="en-US" sz="4000" dirty="0"/>
          </a:p>
        </p:txBody>
      </p:sp>
      <p:sp>
        <p:nvSpPr>
          <p:cNvPr id="7" name="Text 4"/>
          <p:cNvSpPr txBox="1"/>
          <p:nvPr/>
        </p:nvSpPr>
        <p:spPr>
          <a:xfrm>
            <a:off x="7818120" y="2487168"/>
            <a:ext cx="3657600" cy="731520"/>
          </a:xfrm>
          <a:prstGeom prst="rect">
            <a:avLst/>
          </a:prstGeom>
          <a:noFill/>
          <a:ln/>
        </p:spPr>
        <p:txBody>
          <a:bodyPr wrap="square" lIns="0" tIns="0" rIns="0" bIns="0" rtlCol="0" anchor="t"/>
          <a:lstStyle/>
          <a:p>
            <a:pPr indent="0" marL="0">
              <a:buNone/>
            </a:pPr>
            <a:r>
              <a:rPr lang="en-US" sz="1350" dirty="0">
                <a:solidFill>
                  <a:srgbClr val="1B2B34"/>
                </a:solidFill>
                <a:latin typeface="Calibri" pitchFamily="34" charset="0"/>
                <a:ea typeface="Calibri" pitchFamily="34" charset="-122"/>
                <a:cs typeface="Calibri" pitchFamily="34" charset="-120"/>
              </a:rPr>
              <a:t>of every model's score is lost to caption-length mismatch (LP ≈ 0.86)</a:t>
            </a:r>
            <a:endParaRPr lang="en-US" sz="1350" dirty="0"/>
          </a:p>
        </p:txBody>
      </p:sp>
      <p:sp>
        <p:nvSpPr>
          <p:cNvPr id="8" name="Text 5"/>
          <p:cNvSpPr txBox="1"/>
          <p:nvPr/>
        </p:nvSpPr>
        <p:spPr>
          <a:xfrm>
            <a:off x="7680960" y="3520440"/>
            <a:ext cx="3977640" cy="2377440"/>
          </a:xfrm>
          <a:prstGeom prst="rect">
            <a:avLst/>
          </a:prstGeom>
          <a:noFill/>
          <a:ln/>
        </p:spPr>
        <p:txBody>
          <a:bodyPr wrap="square" lIns="0" tIns="0" rIns="0" bIns="0" rtlCol="0" anchor="t"/>
          <a:lstStyle/>
          <a:p>
            <a:pPr marL="190500" indent="-190500">
              <a:spcAft>
                <a:spcPts val="800"/>
              </a:spcAft>
              <a:buSzPct val="100000"/>
              <a:buChar char="•"/>
            </a:pPr>
            <a:r>
              <a:rPr lang="en-US" sz="1350" dirty="0">
                <a:solidFill>
                  <a:srgbClr val="1B2B34"/>
                </a:solidFill>
                <a:latin typeface="Calibri" pitchFamily="34" charset="0"/>
                <a:ea typeface="Calibri" pitchFamily="34" charset="-122"/>
                <a:cs typeface="Calibri" pitchFamily="34" charset="-120"/>
              </a:rPr>
              <a:t>Zero-shot captions are 2.2× too long (LP 0.53); fine-tuning fixes most of that.</a:t>
            </a:r>
            <a:endParaRPr lang="en-US" sz="1350" dirty="0"/>
          </a:p>
          <a:p>
            <a:pPr marL="190500" indent="-190500">
              <a:spcAft>
                <a:spcPts val="800"/>
              </a:spcAft>
              <a:buSzPct val="100000"/>
              <a:buChar char="•"/>
            </a:pPr>
            <a:r>
              <a:rPr lang="en-US" sz="1350" dirty="0">
                <a:solidFill>
                  <a:srgbClr val="1B2B34"/>
                </a:solidFill>
                <a:latin typeface="Calibri" pitchFamily="34" charset="0"/>
                <a:ea typeface="Calibri" pitchFamily="34" charset="-122"/>
                <a:cs typeface="Calibri" pitchFamily="34" charset="-120"/>
              </a:rPr>
              <a:t>Predicted length barely follows the reference (r ≈ 0.2), so the remaining loss is per image.</a:t>
            </a:r>
            <a:endParaRPr lang="en-US" sz="1350" dirty="0"/>
          </a:p>
          <a:p>
            <a:pPr marL="190500" indent="-190500">
              <a:spcAft>
                <a:spcPts val="800"/>
              </a:spcAft>
              <a:buSzPct val="100000"/>
              <a:buChar char="•"/>
            </a:pPr>
            <a:r>
              <a:rPr lang="en-US" sz="1350" dirty="0">
                <a:solidFill>
                  <a:srgbClr val="1B2B34"/>
                </a:solidFill>
                <a:latin typeface="Calibri" pitchFamily="34" charset="0"/>
                <a:ea typeface="Calibri" pitchFamily="34" charset="-122"/>
                <a:cs typeface="Calibri" pitchFamily="34" charset="-120"/>
              </a:rPr>
              <a:t>More data moved content (0.781 → 0.789); MBR moved LP (0.858 → 0.867).</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Mixed-precision stability: from crashing runs to 4 skipped steps</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T4 has no bf16, so training runs in fp16 (max value 65,504)</a:t>
            </a:r>
            <a:endParaRPr lang="en-US" sz="1500" dirty="0"/>
          </a:p>
        </p:txBody>
      </p:sp>
      <p:sp>
        <p:nvSpPr>
          <p:cNvPr id="4" name="Shape 2"/>
          <p:cNvSpPr/>
          <p:nvPr/>
        </p:nvSpPr>
        <p:spPr>
          <a:xfrm>
            <a:off x="548640" y="1645920"/>
            <a:ext cx="5120640" cy="3520440"/>
          </a:xfrm>
          <a:prstGeom prst="roundRect">
            <a:avLst>
              <a:gd name="adj" fmla="val 3117"/>
            </a:avLst>
          </a:prstGeom>
          <a:solidFill>
            <a:srgbClr val="F7E3DF"/>
          </a:solidFill>
          <a:ln w="12700">
            <a:solidFill>
              <a:srgbClr val="F7E3DF"/>
            </a:solidFill>
            <a:prstDash val="solid"/>
          </a:ln>
        </p:spPr>
      </p:sp>
      <p:sp>
        <p:nvSpPr>
          <p:cNvPr id="5" name="Text 3"/>
          <p:cNvSpPr txBox="1"/>
          <p:nvPr/>
        </p:nvSpPr>
        <p:spPr>
          <a:xfrm>
            <a:off x="822960" y="1828800"/>
            <a:ext cx="4572000" cy="365760"/>
          </a:xfrm>
          <a:prstGeom prst="rect">
            <a:avLst/>
          </a:prstGeom>
          <a:noFill/>
          <a:ln/>
        </p:spPr>
        <p:txBody>
          <a:bodyPr wrap="square" lIns="0" tIns="0" rIns="0" bIns="0" rtlCol="0" anchor="t"/>
          <a:lstStyle/>
          <a:p>
            <a:pPr indent="0" marL="0">
              <a:buNone/>
            </a:pPr>
            <a:r>
              <a:rPr lang="en-US" sz="1600" b="1" dirty="0">
                <a:solidFill>
                  <a:srgbClr val="B5473A"/>
                </a:solidFill>
                <a:latin typeface="Calibri" pitchFamily="34" charset="0"/>
                <a:ea typeface="Calibri" pitchFamily="34" charset="-122"/>
                <a:cs typeface="Calibri" pitchFamily="34" charset="-120"/>
              </a:rPr>
              <a:t>Before: fp16, no loss scaling</a:t>
            </a:r>
            <a:endParaRPr lang="en-US" sz="1600" dirty="0"/>
          </a:p>
        </p:txBody>
      </p:sp>
      <p:sp>
        <p:nvSpPr>
          <p:cNvPr id="6" name="Text 4"/>
          <p:cNvSpPr txBox="1"/>
          <p:nvPr/>
        </p:nvSpPr>
        <p:spPr>
          <a:xfrm>
            <a:off x="822960" y="2286000"/>
            <a:ext cx="4572000" cy="777240"/>
          </a:xfrm>
          <a:prstGeom prst="rect">
            <a:avLst/>
          </a:prstGeom>
          <a:noFill/>
          <a:ln/>
        </p:spPr>
        <p:txBody>
          <a:bodyPr wrap="square" lIns="0" tIns="0" rIns="0" bIns="0" rtlCol="0" anchor="ctr"/>
          <a:lstStyle/>
          <a:p>
            <a:pPr indent="0" marL="0">
              <a:buNone/>
            </a:pPr>
            <a:r>
              <a:rPr lang="en-US" sz="4000" b="1" dirty="0">
                <a:solidFill>
                  <a:srgbClr val="B5473A"/>
                </a:solidFill>
                <a:latin typeface="Cambria" pitchFamily="34" charset="0"/>
                <a:ea typeface="Cambria" pitchFamily="34" charset="-122"/>
                <a:cs typeface="Cambria" pitchFamily="34" charset="-120"/>
              </a:rPr>
              <a:t>1,690 / 2,000</a:t>
            </a:r>
            <a:endParaRPr lang="en-US" sz="4000" dirty="0"/>
          </a:p>
        </p:txBody>
      </p:sp>
      <p:sp>
        <p:nvSpPr>
          <p:cNvPr id="7" name="Text 5"/>
          <p:cNvSpPr txBox="1"/>
          <p:nvPr/>
        </p:nvSpPr>
        <p:spPr>
          <a:xfrm>
            <a:off x="914400" y="3200400"/>
            <a:ext cx="4526280" cy="1737360"/>
          </a:xfrm>
          <a:prstGeom prst="rect">
            <a:avLst/>
          </a:prstGeom>
          <a:noFill/>
          <a:ln/>
        </p:spPr>
        <p:txBody>
          <a:bodyPr wrap="square" lIns="0" tIns="0" rIns="0" bIns="0" rtlCol="0" anchor="t"/>
          <a:lstStyle/>
          <a:p>
            <a:pPr marL="190500" indent="-190500">
              <a:spcAft>
                <a:spcPts val="800"/>
              </a:spcAft>
              <a:buSzPct val="100000"/>
              <a:buChar char="•"/>
            </a:pPr>
            <a:r>
              <a:rPr lang="en-US" sz="1350" dirty="0">
                <a:solidFill>
                  <a:srgbClr val="1B2B34"/>
                </a:solidFill>
                <a:latin typeface="Calibri" pitchFamily="34" charset="0"/>
                <a:ea typeface="Calibri" pitchFamily="34" charset="-122"/>
                <a:cs typeface="Calibri" pitchFamily="34" charset="-120"/>
              </a:rPr>
              <a:t>E4 hit a non-finite loss and the loop stopped; E6 (2 epochs) failed the same way.</a:t>
            </a:r>
            <a:endParaRPr lang="en-US" sz="1350" dirty="0"/>
          </a:p>
          <a:p>
            <a:pPr marL="190500" indent="-190500">
              <a:spcAft>
                <a:spcPts val="800"/>
              </a:spcAft>
              <a:buSzPct val="100000"/>
              <a:buChar char="•"/>
            </a:pPr>
            <a:r>
              <a:rPr lang="en-US" sz="1350" dirty="0">
                <a:solidFill>
                  <a:srgbClr val="1B2B34"/>
                </a:solidFill>
                <a:latin typeface="Calibri" pitchFamily="34" charset="0"/>
                <a:ea typeface="Calibri" pitchFamily="34" charset="-122"/>
                <a:cs typeface="Calibri" pitchFamily="34" charset="-120"/>
              </a:rPr>
              <a:t>Its logged train loss 1.376 was an artifact: a 1,690-step sum divided by 2,000.</a:t>
            </a:r>
            <a:endParaRPr lang="en-US" sz="1350" dirty="0"/>
          </a:p>
          <a:p>
            <a:pPr marL="190500" indent="-190500">
              <a:spcAft>
                <a:spcPts val="800"/>
              </a:spcAft>
              <a:buSzPct val="100000"/>
              <a:buChar char="•"/>
            </a:pPr>
            <a:r>
              <a:rPr lang="en-US" sz="1350" dirty="0">
                <a:solidFill>
                  <a:srgbClr val="1B2B34"/>
                </a:solidFill>
                <a:latin typeface="Calibri" pitchFamily="34" charset="0"/>
                <a:ea typeface="Calibri" pitchFamily="34" charset="-122"/>
                <a:cs typeface="Calibri" pitchFamily="34" charset="-120"/>
              </a:rPr>
              <a:t>Small gradients silently underflow to zero without loss scaling.</a:t>
            </a:r>
            <a:endParaRPr lang="en-US" sz="1350" dirty="0"/>
          </a:p>
        </p:txBody>
      </p:sp>
      <p:sp>
        <p:nvSpPr>
          <p:cNvPr id="8" name="Shape 6"/>
          <p:cNvSpPr/>
          <p:nvPr/>
        </p:nvSpPr>
        <p:spPr>
          <a:xfrm>
            <a:off x="5806440" y="3108960"/>
            <a:ext cx="548640" cy="548640"/>
          </a:xfrm>
          <a:prstGeom prst="rightArrow">
            <a:avLst/>
          </a:prstGeom>
          <a:solidFill>
            <a:srgbClr val="E8A33D"/>
          </a:solidFill>
          <a:ln w="12700">
            <a:solidFill>
              <a:srgbClr val="E8A33D"/>
            </a:solidFill>
            <a:prstDash val="solid"/>
          </a:ln>
        </p:spPr>
      </p:sp>
      <p:sp>
        <p:nvSpPr>
          <p:cNvPr id="9" name="Shape 7"/>
          <p:cNvSpPr/>
          <p:nvPr/>
        </p:nvSpPr>
        <p:spPr>
          <a:xfrm>
            <a:off x="6492240" y="1645920"/>
            <a:ext cx="5166360" cy="3520440"/>
          </a:xfrm>
          <a:prstGeom prst="roundRect">
            <a:avLst>
              <a:gd name="adj" fmla="val 3117"/>
            </a:avLst>
          </a:prstGeom>
          <a:solidFill>
            <a:srgbClr val="E8F3F2"/>
          </a:solidFill>
          <a:ln w="12700">
            <a:solidFill>
              <a:srgbClr val="E8F3F2"/>
            </a:solidFill>
            <a:prstDash val="solid"/>
          </a:ln>
        </p:spPr>
      </p:sp>
      <p:sp>
        <p:nvSpPr>
          <p:cNvPr id="10" name="Text 8"/>
          <p:cNvSpPr txBox="1"/>
          <p:nvPr/>
        </p:nvSpPr>
        <p:spPr>
          <a:xfrm>
            <a:off x="6766560" y="1828800"/>
            <a:ext cx="4663440" cy="365760"/>
          </a:xfrm>
          <a:prstGeom prst="rect">
            <a:avLst/>
          </a:prstGeom>
          <a:noFill/>
          <a:ln/>
        </p:spPr>
        <p:txBody>
          <a:bodyPr wrap="square" lIns="0" tIns="0" rIns="0" bIns="0" rtlCol="0" anchor="t"/>
          <a:lstStyle/>
          <a:p>
            <a:pPr indent="0" marL="0">
              <a:buNone/>
            </a:pPr>
            <a:r>
              <a:rPr lang="en-US" sz="1600" b="1" dirty="0">
                <a:solidFill>
                  <a:srgbClr val="0F6E74"/>
                </a:solidFill>
                <a:latin typeface="Calibri" pitchFamily="34" charset="0"/>
                <a:ea typeface="Calibri" pitchFamily="34" charset="-122"/>
                <a:cs typeface="Calibri" pitchFamily="34" charset="-120"/>
              </a:rPr>
              <a:t>After (E8): GradScaler + fp32 LoRA weights</a:t>
            </a:r>
            <a:endParaRPr lang="en-US" sz="1600" dirty="0"/>
          </a:p>
        </p:txBody>
      </p:sp>
      <p:sp>
        <p:nvSpPr>
          <p:cNvPr id="11" name="Text 9"/>
          <p:cNvSpPr txBox="1"/>
          <p:nvPr/>
        </p:nvSpPr>
        <p:spPr>
          <a:xfrm>
            <a:off x="6766560" y="2286000"/>
            <a:ext cx="4663440" cy="777240"/>
          </a:xfrm>
          <a:prstGeom prst="rect">
            <a:avLst/>
          </a:prstGeom>
          <a:noFill/>
          <a:ln/>
        </p:spPr>
        <p:txBody>
          <a:bodyPr wrap="square" lIns="0" tIns="0" rIns="0" bIns="0" rtlCol="0" anchor="ctr"/>
          <a:lstStyle/>
          <a:p>
            <a:pPr indent="0" marL="0">
              <a:buNone/>
            </a:pPr>
            <a:r>
              <a:rPr lang="en-US" sz="4000" b="1" dirty="0">
                <a:solidFill>
                  <a:srgbClr val="0F6E74"/>
                </a:solidFill>
                <a:latin typeface="Cambria" pitchFamily="34" charset="0"/>
                <a:ea typeface="Cambria" pitchFamily="34" charset="-122"/>
                <a:cs typeface="Cambria" pitchFamily="34" charset="-120"/>
              </a:rPr>
              <a:t>2,533 / 2,533</a:t>
            </a:r>
            <a:endParaRPr lang="en-US" sz="4000" dirty="0"/>
          </a:p>
        </p:txBody>
      </p:sp>
      <p:sp>
        <p:nvSpPr>
          <p:cNvPr id="12" name="Text 10"/>
          <p:cNvSpPr txBox="1"/>
          <p:nvPr/>
        </p:nvSpPr>
        <p:spPr>
          <a:xfrm>
            <a:off x="6858000" y="3200400"/>
            <a:ext cx="4572000" cy="1737360"/>
          </a:xfrm>
          <a:prstGeom prst="rect">
            <a:avLst/>
          </a:prstGeom>
          <a:noFill/>
          <a:ln/>
        </p:spPr>
        <p:txBody>
          <a:bodyPr wrap="square" lIns="0" tIns="0" rIns="0" bIns="0" rtlCol="0" anchor="t"/>
          <a:lstStyle/>
          <a:p>
            <a:pPr marL="190500" indent="-190500">
              <a:spcAft>
                <a:spcPts val="800"/>
              </a:spcAft>
              <a:buSzPct val="100000"/>
              <a:buChar char="•"/>
            </a:pPr>
            <a:r>
              <a:rPr lang="en-US" sz="1350" dirty="0">
                <a:solidFill>
                  <a:srgbClr val="1B2B34"/>
                </a:solidFill>
                <a:latin typeface="Calibri" pitchFamily="34" charset="0"/>
                <a:ea typeface="Calibri" pitchFamily="34" charset="-122"/>
                <a:cs typeface="Calibri" pitchFamily="34" charset="-120"/>
              </a:rPr>
              <a:t>Loss × S before backward keeps small gradients representable; unscaled before the step.</a:t>
            </a:r>
            <a:endParaRPr lang="en-US" sz="1350" dirty="0"/>
          </a:p>
          <a:p>
            <a:pPr marL="190500" indent="-190500">
              <a:spcAft>
                <a:spcPts val="800"/>
              </a:spcAft>
              <a:buSzPct val="100000"/>
              <a:buChar char="•"/>
            </a:pPr>
            <a:r>
              <a:rPr lang="en-US" sz="1350" dirty="0">
                <a:solidFill>
                  <a:srgbClr val="1B2B34"/>
                </a:solidFill>
                <a:latin typeface="Calibri" pitchFamily="34" charset="0"/>
                <a:ea typeface="Calibri" pitchFamily="34" charset="-122"/>
                <a:cs typeface="Calibri" pitchFamily="34" charset="-120"/>
              </a:rPr>
              <a:t>An overflow skips one update and halves S: 4 of 2,533 steps skipped (0.16%).</a:t>
            </a:r>
            <a:endParaRPr lang="en-US" sz="1350" dirty="0"/>
          </a:p>
          <a:p>
            <a:pPr marL="190500" indent="-190500">
              <a:spcAft>
                <a:spcPts val="800"/>
              </a:spcAft>
              <a:buSzPct val="100000"/>
              <a:buChar char="•"/>
            </a:pPr>
            <a:r>
              <a:rPr lang="en-US" sz="1350" dirty="0">
                <a:solidFill>
                  <a:srgbClr val="1B2B34"/>
                </a:solidFill>
                <a:latin typeface="Calibri" pitchFamily="34" charset="0"/>
                <a:ea typeface="Calibri" pitchFamily="34" charset="-122"/>
                <a:cs typeface="Calibri" pitchFamily="34" charset="-120"/>
              </a:rPr>
              <a:t>All GPUs always run backward, so DDP never deadlocks on a bad batch.</a:t>
            </a:r>
            <a:endParaRPr lang="en-US" sz="1350" dirty="0"/>
          </a:p>
        </p:txBody>
      </p:sp>
      <p:sp>
        <p:nvSpPr>
          <p:cNvPr id="13" name="Text 11"/>
          <p:cNvSpPr txBox="1"/>
          <p:nvPr/>
        </p:nvSpPr>
        <p:spPr>
          <a:xfrm>
            <a:off x="548640" y="5440680"/>
            <a:ext cx="11064240" cy="411480"/>
          </a:xfrm>
          <a:prstGeom prst="rect">
            <a:avLst/>
          </a:prstGeom>
          <a:noFill/>
          <a:ln/>
        </p:spPr>
        <p:txBody>
          <a:bodyPr wrap="square" lIns="0" tIns="0" rIns="0" bIns="0" rtlCol="0" anchor="ctr"/>
          <a:lstStyle/>
          <a:p>
            <a:pPr indent="0" marL="0">
              <a:buNone/>
            </a:pPr>
            <a:r>
              <a:rPr lang="en-US" sz="1500" b="1" dirty="0">
                <a:solidFill>
                  <a:srgbClr val="0F6E74"/>
                </a:solidFill>
                <a:latin typeface="Calibri" pitchFamily="34" charset="0"/>
                <a:ea typeface="Calibri" pitchFamily="34" charset="-122"/>
                <a:cs typeface="Calibri" pitchFamily="34" charset="-120"/>
              </a:rPr>
              <a:t>With 10,132 forward passes per GPU, one non-finite loss would otherwise have ended the 20,264-image run.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E8: the full training split in 2.3 hours on two T4s</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E3 configuration + effective batch 8, LR 1e-4 / 2e-5 with 3% warmup + cosine, GradScaler, DDP</a:t>
            </a:r>
            <a:endParaRPr lang="en-US" sz="1500" dirty="0"/>
          </a:p>
        </p:txBody>
      </p:sp>
      <p:sp>
        <p:nvSpPr>
          <p:cNvPr id="4" name="Shape 2"/>
          <p:cNvSpPr/>
          <p:nvPr/>
        </p:nvSpPr>
        <p:spPr>
          <a:xfrm>
            <a:off x="548640" y="1645920"/>
            <a:ext cx="2423160" cy="1280160"/>
          </a:xfrm>
          <a:prstGeom prst="roundRect">
            <a:avLst>
              <a:gd name="adj" fmla="val 8571"/>
            </a:avLst>
          </a:prstGeom>
          <a:solidFill>
            <a:srgbClr val="E8F3F2"/>
          </a:solidFill>
          <a:ln w="12700">
            <a:solidFill>
              <a:srgbClr val="E8F3F2"/>
            </a:solidFill>
            <a:prstDash val="solid"/>
          </a:ln>
        </p:spPr>
      </p:sp>
      <p:sp>
        <p:nvSpPr>
          <p:cNvPr id="5" name="Text 3"/>
          <p:cNvSpPr txBox="1"/>
          <p:nvPr/>
        </p:nvSpPr>
        <p:spPr>
          <a:xfrm>
            <a:off x="731520" y="1783080"/>
            <a:ext cx="2103120" cy="594360"/>
          </a:xfrm>
          <a:prstGeom prst="rect">
            <a:avLst/>
          </a:prstGeom>
          <a:noFill/>
          <a:ln/>
        </p:spPr>
        <p:txBody>
          <a:bodyPr wrap="square" lIns="0" tIns="0" rIns="0" bIns="0" rtlCol="0" anchor="ctr"/>
          <a:lstStyle/>
          <a:p>
            <a:pPr indent="0" marL="0">
              <a:buNone/>
            </a:pPr>
            <a:r>
              <a:rPr lang="en-US" sz="2600" b="1" dirty="0">
                <a:solidFill>
                  <a:srgbClr val="0F6E74"/>
                </a:solidFill>
                <a:latin typeface="Cambria" pitchFamily="34" charset="0"/>
                <a:ea typeface="Cambria" pitchFamily="34" charset="-122"/>
                <a:cs typeface="Cambria" pitchFamily="34" charset="-120"/>
              </a:rPr>
              <a:t>20,264</a:t>
            </a:r>
            <a:endParaRPr lang="en-US" sz="2600" dirty="0"/>
          </a:p>
        </p:txBody>
      </p:sp>
      <p:sp>
        <p:nvSpPr>
          <p:cNvPr id="6" name="Text 4"/>
          <p:cNvSpPr txBox="1"/>
          <p:nvPr/>
        </p:nvSpPr>
        <p:spPr>
          <a:xfrm>
            <a:off x="731520" y="2395728"/>
            <a:ext cx="2103120" cy="45720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training images, 1 epoch</a:t>
            </a:r>
            <a:endParaRPr lang="en-US" sz="1250" dirty="0"/>
          </a:p>
        </p:txBody>
      </p:sp>
      <p:sp>
        <p:nvSpPr>
          <p:cNvPr id="7" name="Shape 5"/>
          <p:cNvSpPr/>
          <p:nvPr/>
        </p:nvSpPr>
        <p:spPr>
          <a:xfrm>
            <a:off x="3154680" y="1645920"/>
            <a:ext cx="2423160" cy="1280160"/>
          </a:xfrm>
          <a:prstGeom prst="roundRect">
            <a:avLst>
              <a:gd name="adj" fmla="val 8571"/>
            </a:avLst>
          </a:prstGeom>
          <a:solidFill>
            <a:srgbClr val="E8F3F2"/>
          </a:solidFill>
          <a:ln w="12700">
            <a:solidFill>
              <a:srgbClr val="E8F3F2"/>
            </a:solidFill>
            <a:prstDash val="solid"/>
          </a:ln>
        </p:spPr>
      </p:sp>
      <p:sp>
        <p:nvSpPr>
          <p:cNvPr id="8" name="Text 6"/>
          <p:cNvSpPr txBox="1"/>
          <p:nvPr/>
        </p:nvSpPr>
        <p:spPr>
          <a:xfrm>
            <a:off x="3337560" y="1783080"/>
            <a:ext cx="2103120" cy="594360"/>
          </a:xfrm>
          <a:prstGeom prst="rect">
            <a:avLst/>
          </a:prstGeom>
          <a:noFill/>
          <a:ln/>
        </p:spPr>
        <p:txBody>
          <a:bodyPr wrap="square" lIns="0" tIns="0" rIns="0" bIns="0" rtlCol="0" anchor="ctr"/>
          <a:lstStyle/>
          <a:p>
            <a:pPr indent="0" marL="0">
              <a:buNone/>
            </a:pPr>
            <a:r>
              <a:rPr lang="en-US" sz="2600" b="1" dirty="0">
                <a:solidFill>
                  <a:srgbClr val="0F6E74"/>
                </a:solidFill>
                <a:latin typeface="Cambria" pitchFamily="34" charset="0"/>
                <a:ea typeface="Cambria" pitchFamily="34" charset="-122"/>
                <a:cs typeface="Cambria" pitchFamily="34" charset="-120"/>
              </a:rPr>
              <a:t>136 min</a:t>
            </a:r>
            <a:endParaRPr lang="en-US" sz="2600" dirty="0"/>
          </a:p>
        </p:txBody>
      </p:sp>
      <p:sp>
        <p:nvSpPr>
          <p:cNvPr id="9" name="Text 7"/>
          <p:cNvSpPr txBox="1"/>
          <p:nvPr/>
        </p:nvSpPr>
        <p:spPr>
          <a:xfrm>
            <a:off x="3337560" y="2395728"/>
            <a:ext cx="2103120" cy="45720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wall-clock (identical rerun: 130)</a:t>
            </a:r>
            <a:endParaRPr lang="en-US" sz="1250" dirty="0"/>
          </a:p>
        </p:txBody>
      </p:sp>
      <p:sp>
        <p:nvSpPr>
          <p:cNvPr id="10" name="Shape 8"/>
          <p:cNvSpPr/>
          <p:nvPr/>
        </p:nvSpPr>
        <p:spPr>
          <a:xfrm>
            <a:off x="548640" y="3108960"/>
            <a:ext cx="2423160" cy="1280160"/>
          </a:xfrm>
          <a:prstGeom prst="roundRect">
            <a:avLst>
              <a:gd name="adj" fmla="val 8571"/>
            </a:avLst>
          </a:prstGeom>
          <a:solidFill>
            <a:srgbClr val="E8F3F2"/>
          </a:solidFill>
          <a:ln w="12700">
            <a:solidFill>
              <a:srgbClr val="E8F3F2"/>
            </a:solidFill>
            <a:prstDash val="solid"/>
          </a:ln>
        </p:spPr>
      </p:sp>
      <p:sp>
        <p:nvSpPr>
          <p:cNvPr id="11" name="Text 9"/>
          <p:cNvSpPr txBox="1"/>
          <p:nvPr/>
        </p:nvSpPr>
        <p:spPr>
          <a:xfrm>
            <a:off x="731520" y="3246120"/>
            <a:ext cx="2103120" cy="594360"/>
          </a:xfrm>
          <a:prstGeom prst="rect">
            <a:avLst/>
          </a:prstGeom>
          <a:noFill/>
          <a:ln/>
        </p:spPr>
        <p:txBody>
          <a:bodyPr wrap="square" lIns="0" tIns="0" rIns="0" bIns="0" rtlCol="0" anchor="ctr"/>
          <a:lstStyle/>
          <a:p>
            <a:pPr indent="0" marL="0">
              <a:buNone/>
            </a:pPr>
            <a:r>
              <a:rPr lang="en-US" sz="2600" b="1" dirty="0">
                <a:solidFill>
                  <a:srgbClr val="0F6E74"/>
                </a:solidFill>
                <a:latin typeface="Cambria" pitchFamily="34" charset="0"/>
                <a:ea typeface="Cambria" pitchFamily="34" charset="-122"/>
                <a:cs typeface="Cambria" pitchFamily="34" charset="-120"/>
              </a:rPr>
              <a:t>2.49 img/s</a:t>
            </a:r>
            <a:endParaRPr lang="en-US" sz="2600" dirty="0"/>
          </a:p>
        </p:txBody>
      </p:sp>
      <p:sp>
        <p:nvSpPr>
          <p:cNvPr id="12" name="Text 10"/>
          <p:cNvSpPr txBox="1"/>
          <p:nvPr/>
        </p:nvSpPr>
        <p:spPr>
          <a:xfrm>
            <a:off x="731520" y="3858768"/>
            <a:ext cx="2103120" cy="45720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vs 1.22 for E3 on one GPU</a:t>
            </a:r>
            <a:endParaRPr lang="en-US" sz="1250" dirty="0"/>
          </a:p>
        </p:txBody>
      </p:sp>
      <p:sp>
        <p:nvSpPr>
          <p:cNvPr id="13" name="Shape 11"/>
          <p:cNvSpPr/>
          <p:nvPr/>
        </p:nvSpPr>
        <p:spPr>
          <a:xfrm>
            <a:off x="3154680" y="3108960"/>
            <a:ext cx="2423160" cy="1280160"/>
          </a:xfrm>
          <a:prstGeom prst="roundRect">
            <a:avLst>
              <a:gd name="adj" fmla="val 8571"/>
            </a:avLst>
          </a:prstGeom>
          <a:solidFill>
            <a:srgbClr val="E8F3F2"/>
          </a:solidFill>
          <a:ln w="12700">
            <a:solidFill>
              <a:srgbClr val="E8F3F2"/>
            </a:solidFill>
            <a:prstDash val="solid"/>
          </a:ln>
        </p:spPr>
      </p:sp>
      <p:sp>
        <p:nvSpPr>
          <p:cNvPr id="14" name="Text 12"/>
          <p:cNvSpPr txBox="1"/>
          <p:nvPr/>
        </p:nvSpPr>
        <p:spPr>
          <a:xfrm>
            <a:off x="3337560" y="3246120"/>
            <a:ext cx="2103120" cy="594360"/>
          </a:xfrm>
          <a:prstGeom prst="rect">
            <a:avLst/>
          </a:prstGeom>
          <a:noFill/>
          <a:ln/>
        </p:spPr>
        <p:txBody>
          <a:bodyPr wrap="square" lIns="0" tIns="0" rIns="0" bIns="0" rtlCol="0" anchor="ctr"/>
          <a:lstStyle/>
          <a:p>
            <a:pPr indent="0" marL="0">
              <a:buNone/>
            </a:pPr>
            <a:r>
              <a:rPr lang="en-US" sz="2600" b="1" dirty="0">
                <a:solidFill>
                  <a:srgbClr val="0F6E74"/>
                </a:solidFill>
                <a:latin typeface="Cambria" pitchFamily="34" charset="0"/>
                <a:ea typeface="Cambria" pitchFamily="34" charset="-122"/>
                <a:cs typeface="Cambria" pitchFamily="34" charset="-120"/>
              </a:rPr>
              <a:t>12.7 GB</a:t>
            </a:r>
            <a:endParaRPr lang="en-US" sz="2600" dirty="0"/>
          </a:p>
        </p:txBody>
      </p:sp>
      <p:sp>
        <p:nvSpPr>
          <p:cNvPr id="15" name="Text 13"/>
          <p:cNvSpPr txBox="1"/>
          <p:nvPr/>
        </p:nvSpPr>
        <p:spPr>
          <a:xfrm>
            <a:off x="3337560" y="3858768"/>
            <a:ext cx="2103120" cy="45720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peak memory per GPU</a:t>
            </a:r>
            <a:endParaRPr lang="en-US" sz="1250" dirty="0"/>
          </a:p>
        </p:txBody>
      </p:sp>
      <p:sp>
        <p:nvSpPr>
          <p:cNvPr id="16" name="Text 14"/>
          <p:cNvSpPr txBox="1"/>
          <p:nvPr/>
        </p:nvSpPr>
        <p:spPr>
          <a:xfrm>
            <a:off x="548640" y="4709160"/>
            <a:ext cx="5029200" cy="1188720"/>
          </a:xfrm>
          <a:prstGeom prst="rect">
            <a:avLst/>
          </a:prstGeom>
          <a:noFill/>
          <a:ln/>
        </p:spPr>
        <p:txBody>
          <a:bodyPr wrap="square" lIns="0" tIns="0" rIns="0" bIns="0" rtlCol="0" anchor="t"/>
          <a:lstStyle/>
          <a:p>
            <a:pPr indent="0" marL="0">
              <a:buNone/>
            </a:pPr>
            <a:r>
              <a:rPr lang="en-US" sz="1350" dirty="0">
                <a:solidFill>
                  <a:srgbClr val="1B2B34"/>
                </a:solidFill>
                <a:latin typeface="Calibri" pitchFamily="34" charset="0"/>
                <a:ea typeface="Calibri" pitchFamily="34" charset="-122"/>
                <a:cs typeface="Calibri" pitchFamily="34" charset="-120"/>
              </a:rPr>
              <a:t>Validation BERT-BLEU₄ plateaus after ~5k images, while BLEU-4 keeps rising (0.104 → 0.112). The 200-image set cannot resolve the gain; the 1,000-image test does (next slides).</a:t>
            </a:r>
            <a:endParaRPr lang="en-US" sz="1350" dirty="0"/>
          </a:p>
        </p:txBody>
      </p:sp>
      <p:graphicFrame>
        <p:nvGraphicFramePr>
          <p:cNvPr id="17" name="Chart 0" descr=""/>
          <p:cNvGraphicFramePr/>
          <p:nvPr/>
        </p:nvGraphicFramePr>
        <p:xfrm>
          <a:off x="5943600" y="1554480"/>
          <a:ext cx="5760720" cy="43891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Decoding study: beam search helps BLEU-4, not BERT-BLEU₄</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200 validation images; same adapters, only the decoding changes</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949440" cy="914400"/>
        </p:xfrm>
        <a:graphic>
          <a:graphicData uri="http://schemas.openxmlformats.org/drawingml/2006/table">
            <a:tbl>
              <a:tblPr/>
              <a:tblGrid>
                <a:gridCol w="2194560"/>
                <a:gridCol w="1188720"/>
                <a:gridCol w="731520"/>
                <a:gridCol w="822960"/>
                <a:gridCol w="822960"/>
                <a:gridCol w="118872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Adapter · decoding</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BERT-BLEU₄</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LP</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BLEU-4</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Words</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 / image</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0F6E74"/>
                    </a:solidFill>
                  </a:tcPr>
                </a:tc>
              </a:tr>
              <a:tr h="457200">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zero-shot · greedy</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0.3998</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0.530</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0.027</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103.6</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1.26</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r>
              <a:tr h="457200">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E3 · greedy</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0.6672</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0.858</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0.098</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45.5</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1.03</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r>
              <a:tr h="457200">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E3 · beam 4, lp 0.6</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B5473A"/>
                          </a:solidFill>
                          <a:latin typeface="Calibri" pitchFamily="34" charset="0"/>
                          <a:ea typeface="Calibri" pitchFamily="34" charset="-122"/>
                          <a:cs typeface="Calibri" pitchFamily="34" charset="-120"/>
                        </a:rPr>
                        <a:t>0.6503</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0.843</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0.089</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34.1</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2.40</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r>
              <a:tr h="457200">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E3 · beam 4, lp 1.0</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0.6597</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0.850</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0.097</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39.3</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2.44</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r>
              <a:tr h="457200">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E3 · beam 4, lp 1.4</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0.6584</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0.838</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0.101</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51.2</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2.71</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r>
              <a:tr h="457200">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E4 · beam 4, lp 1.0</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0.6574</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0.840</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b="1" dirty="0">
                          <a:solidFill>
                            <a:srgbClr val="1B2B34"/>
                          </a:solidFill>
                          <a:latin typeface="Calibri" pitchFamily="34" charset="0"/>
                          <a:ea typeface="Calibri" pitchFamily="34" charset="-122"/>
                          <a:cs typeface="Calibri" pitchFamily="34" charset="-120"/>
                        </a:rPr>
                        <a:t>0.112</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45.8</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c>
                  <a:txBody>
                    <a:bodyPr/>
                    <a:lstStyle/>
                    <a:p>
                      <a:pPr indent="0" marL="0">
                        <a:buNone/>
                      </a:pPr>
                      <a:r>
                        <a:rPr lang="en-US" sz="1250" dirty="0">
                          <a:solidFill>
                            <a:srgbClr val="1B2B34"/>
                          </a:solidFill>
                          <a:latin typeface="Calibri" pitchFamily="34" charset="0"/>
                          <a:ea typeface="Calibri" pitchFamily="34" charset="-122"/>
                          <a:cs typeface="Calibri" pitchFamily="34" charset="-120"/>
                        </a:rPr>
                        <a:t>2.71</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tcPr>
                </a:tc>
              </a:tr>
              <a:tr h="457200">
                <a:tc>
                  <a:txBody>
                    <a:bodyPr/>
                    <a:lstStyle/>
                    <a:p>
                      <a:pPr indent="0" marL="0">
                        <a:buNone/>
                      </a:pPr>
                      <a:r>
                        <a:rPr lang="en-US" sz="1250" b="1" dirty="0">
                          <a:solidFill>
                            <a:srgbClr val="1B2B34"/>
                          </a:solidFill>
                          <a:latin typeface="Calibri" pitchFamily="34" charset="0"/>
                          <a:ea typeface="Calibri" pitchFamily="34" charset="-122"/>
                          <a:cs typeface="Calibri" pitchFamily="34" charset="-120"/>
                        </a:rPr>
                        <a:t>E3 · MBR (6 candidates)</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c>
                  <a:txBody>
                    <a:bodyPr/>
                    <a:lstStyle/>
                    <a:p>
                      <a:pPr indent="0" marL="0">
                        <a:buNone/>
                      </a:pPr>
                      <a:r>
                        <a:rPr lang="en-US" sz="1250" b="1" dirty="0">
                          <a:solidFill>
                            <a:srgbClr val="1B2B34"/>
                          </a:solidFill>
                          <a:latin typeface="Calibri" pitchFamily="34" charset="0"/>
                          <a:ea typeface="Calibri" pitchFamily="34" charset="-122"/>
                          <a:cs typeface="Calibri" pitchFamily="34" charset="-120"/>
                        </a:rPr>
                        <a:t>0.6758</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c>
                  <a:txBody>
                    <a:bodyPr/>
                    <a:lstStyle/>
                    <a:p>
                      <a:pPr indent="0" marL="0">
                        <a:buNone/>
                      </a:pPr>
                      <a:r>
                        <a:rPr lang="en-US" sz="1250" b="1" dirty="0">
                          <a:solidFill>
                            <a:srgbClr val="1B2B34"/>
                          </a:solidFill>
                          <a:latin typeface="Calibri" pitchFamily="34" charset="0"/>
                          <a:ea typeface="Calibri" pitchFamily="34" charset="-122"/>
                          <a:cs typeface="Calibri" pitchFamily="34" charset="-120"/>
                        </a:rPr>
                        <a:t>0.868</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c>
                  <a:txBody>
                    <a:bodyPr/>
                    <a:lstStyle/>
                    <a:p>
                      <a:pPr indent="0" marL="0">
                        <a:buNone/>
                      </a:pPr>
                      <a:r>
                        <a:rPr lang="en-US" sz="1250" b="1" dirty="0">
                          <a:solidFill>
                            <a:srgbClr val="1B2B34"/>
                          </a:solidFill>
                          <a:latin typeface="Calibri" pitchFamily="34" charset="0"/>
                          <a:ea typeface="Calibri" pitchFamily="34" charset="-122"/>
                          <a:cs typeface="Calibri" pitchFamily="34" charset="-120"/>
                        </a:rPr>
                        <a:t>0.089</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c>
                  <a:txBody>
                    <a:bodyPr/>
                    <a:lstStyle/>
                    <a:p>
                      <a:pPr indent="0" marL="0">
                        <a:buNone/>
                      </a:pPr>
                      <a:r>
                        <a:rPr lang="en-US" sz="1250" b="1" dirty="0">
                          <a:solidFill>
                            <a:srgbClr val="1B2B34"/>
                          </a:solidFill>
                          <a:latin typeface="Calibri" pitchFamily="34" charset="0"/>
                          <a:ea typeface="Calibri" pitchFamily="34" charset="-122"/>
                          <a:cs typeface="Calibri" pitchFamily="34" charset="-120"/>
                        </a:rPr>
                        <a:t>46.6</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c>
                  <a:txBody>
                    <a:bodyPr/>
                    <a:lstStyle/>
                    <a:p>
                      <a:pPr indent="0" marL="0">
                        <a:buNone/>
                      </a:pPr>
                      <a:r>
                        <a:rPr lang="en-US" sz="1250" b="1" dirty="0">
                          <a:solidFill>
                            <a:srgbClr val="1B2B34"/>
                          </a:solidFill>
                          <a:latin typeface="Calibri" pitchFamily="34" charset="0"/>
                          <a:ea typeface="Calibri" pitchFamily="34" charset="-122"/>
                          <a:cs typeface="Calibri" pitchFamily="34" charset="-120"/>
                        </a:rPr>
                        <a:t>4.66</a:t>
                      </a:r>
                      <a:endParaRPr lang="en-US" sz="1250" dirty="0">
                        <a:latin typeface="Calibri" charset="0"/>
                        <a:ea typeface="Calibri" charset="0"/>
                        <a:cs typeface="Calibri" charset="0"/>
                      </a:endParaRPr>
                    </a:p>
                  </a:txBody>
                  <a:tcPr marL="73152" marR="73152" marT="36576" marB="36576" anchor="ctr">
                    <a:lnL w="9525" cap="flat" cmpd="sng" algn="ctr">
                      <a:solidFill>
                        <a:srgbClr val="C9D6D5"/>
                      </a:solidFill>
                      <a:prstDash val="solid"/>
                      <a:round/>
                      <a:headEnd type="none" w="med" len="med"/>
                      <a:tailEnd type="none" w="med" len="med"/>
                    </a:lnL>
                    <a:lnR w="9525" cap="flat" cmpd="sng" algn="ctr">
                      <a:solidFill>
                        <a:srgbClr val="C9D6D5"/>
                      </a:solidFill>
                      <a:prstDash val="solid"/>
                      <a:round/>
                      <a:headEnd type="none" w="med" len="med"/>
                      <a:tailEnd type="none" w="med" len="med"/>
                    </a:lnR>
                    <a:lnT w="9525" cap="flat" cmpd="sng" algn="ctr">
                      <a:solidFill>
                        <a:srgbClr val="C9D6D5"/>
                      </a:solidFill>
                      <a:prstDash val="solid"/>
                      <a:round/>
                      <a:headEnd type="none" w="med" len="med"/>
                      <a:tailEnd type="none" w="med" len="med"/>
                    </a:lnT>
                    <a:lnB w="9525" cap="flat" cmpd="sng" algn="ctr">
                      <a:solidFill>
                        <a:srgbClr val="C9D6D5"/>
                      </a:solidFill>
                      <a:prstDash val="solid"/>
                      <a:round/>
                      <a:headEnd type="none" w="med" len="med"/>
                      <a:tailEnd type="none" w="med" len="med"/>
                    </a:lnB>
                    <a:solidFill>
                      <a:srgbClr val="FBF0DC"/>
                    </a:solidFill>
                  </a:tcPr>
                </a:tc>
              </a:tr>
            </a:tbl>
          </a:graphicData>
        </a:graphic>
      </p:graphicFrame>
      <p:sp>
        <p:nvSpPr>
          <p:cNvPr id="5" name="Shape 2"/>
          <p:cNvSpPr/>
          <p:nvPr/>
        </p:nvSpPr>
        <p:spPr>
          <a:xfrm>
            <a:off x="7818120" y="1600200"/>
            <a:ext cx="3840480" cy="1261872"/>
          </a:xfrm>
          <a:prstGeom prst="roundRect">
            <a:avLst>
              <a:gd name="adj" fmla="val 8696"/>
            </a:avLst>
          </a:prstGeom>
          <a:solidFill>
            <a:srgbClr val="E8F3F2"/>
          </a:solidFill>
          <a:ln w="12700">
            <a:solidFill>
              <a:srgbClr val="E8F3F2"/>
            </a:solidFill>
            <a:prstDash val="solid"/>
          </a:ln>
        </p:spPr>
      </p:sp>
      <p:sp>
        <p:nvSpPr>
          <p:cNvPr id="6" name="Shape 3"/>
          <p:cNvSpPr/>
          <p:nvPr/>
        </p:nvSpPr>
        <p:spPr>
          <a:xfrm>
            <a:off x="7973568" y="1783080"/>
            <a:ext cx="457200" cy="457200"/>
          </a:xfrm>
          <a:prstGeom prst="ellipse">
            <a:avLst/>
          </a:prstGeom>
          <a:solidFill>
            <a:srgbClr val="0F6E74"/>
          </a:solidFill>
          <a:ln w="12700">
            <a:solidFill>
              <a:srgbClr val="0F6E74"/>
            </a:solidFill>
            <a:prstDash val="solid"/>
          </a:ln>
        </p:spPr>
      </p:sp>
      <p:pic>
        <p:nvPicPr>
          <p:cNvPr id="7" name="Image 0" descr="preencoded.png">    </p:cNvPr>
          <p:cNvPicPr>
            <a:picLocks noChangeAspect="1"/>
          </p:cNvPicPr>
          <p:nvPr/>
        </p:nvPicPr>
        <p:blipFill>
          <a:blip r:embed="rId1"/>
          <a:stretch>
            <a:fillRect/>
          </a:stretch>
        </p:blipFill>
        <p:spPr>
          <a:xfrm>
            <a:off x="8074152" y="1883664"/>
            <a:ext cx="256032" cy="256032"/>
          </a:xfrm>
          <a:prstGeom prst="rect">
            <a:avLst/>
          </a:prstGeom>
        </p:spPr>
      </p:pic>
      <p:sp>
        <p:nvSpPr>
          <p:cNvPr id="8" name="Text 4"/>
          <p:cNvSpPr txBox="1"/>
          <p:nvPr/>
        </p:nvSpPr>
        <p:spPr>
          <a:xfrm>
            <a:off x="8577072" y="1737360"/>
            <a:ext cx="2926080" cy="347472"/>
          </a:xfrm>
          <a:prstGeom prst="rect">
            <a:avLst/>
          </a:prstGeom>
          <a:noFill/>
          <a:ln/>
        </p:spPr>
        <p:txBody>
          <a:bodyPr wrap="square" lIns="0" tIns="0" rIns="0" bIns="0" rtlCol="0" anchor="t"/>
          <a:lstStyle/>
          <a:p>
            <a:pPr indent="0" marL="0">
              <a:buNone/>
            </a:pPr>
            <a:r>
              <a:rPr lang="en-US" sz="1400" b="1" dirty="0">
                <a:solidFill>
                  <a:srgbClr val="1B2B34"/>
                </a:solidFill>
                <a:latin typeface="Calibri" pitchFamily="34" charset="0"/>
                <a:ea typeface="Calibri" pitchFamily="34" charset="-122"/>
                <a:cs typeface="Calibri" pitchFamily="34" charset="-120"/>
              </a:rPr>
              <a:t>Beam shortens captions</a:t>
            </a:r>
            <a:endParaRPr lang="en-US" sz="1400" dirty="0"/>
          </a:p>
        </p:txBody>
      </p:sp>
      <p:sp>
        <p:nvSpPr>
          <p:cNvPr id="9" name="Text 5"/>
          <p:cNvSpPr txBox="1"/>
          <p:nvPr/>
        </p:nvSpPr>
        <p:spPr>
          <a:xfrm>
            <a:off x="8577072" y="2084832"/>
            <a:ext cx="2926080" cy="7315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Higher-probability, more generic phrasing: exact n-gram precision up, semantic recall and LP down.</a:t>
            </a:r>
            <a:endParaRPr lang="en-US" sz="1150" dirty="0"/>
          </a:p>
        </p:txBody>
      </p:sp>
      <p:sp>
        <p:nvSpPr>
          <p:cNvPr id="10" name="Shape 6"/>
          <p:cNvSpPr/>
          <p:nvPr/>
        </p:nvSpPr>
        <p:spPr>
          <a:xfrm>
            <a:off x="7818120" y="3017520"/>
            <a:ext cx="3840480" cy="1261872"/>
          </a:xfrm>
          <a:prstGeom prst="roundRect">
            <a:avLst>
              <a:gd name="adj" fmla="val 8696"/>
            </a:avLst>
          </a:prstGeom>
          <a:solidFill>
            <a:srgbClr val="E8F3F2"/>
          </a:solidFill>
          <a:ln w="12700">
            <a:solidFill>
              <a:srgbClr val="E8F3F2"/>
            </a:solidFill>
            <a:prstDash val="solid"/>
          </a:ln>
        </p:spPr>
      </p:sp>
      <p:sp>
        <p:nvSpPr>
          <p:cNvPr id="11" name="Shape 7"/>
          <p:cNvSpPr/>
          <p:nvPr/>
        </p:nvSpPr>
        <p:spPr>
          <a:xfrm>
            <a:off x="7973568" y="3200400"/>
            <a:ext cx="457200" cy="457200"/>
          </a:xfrm>
          <a:prstGeom prst="ellipse">
            <a:avLst/>
          </a:prstGeom>
          <a:solidFill>
            <a:srgbClr val="E8A33D"/>
          </a:solidFill>
          <a:ln w="12700">
            <a:solidFill>
              <a:srgbClr val="E8A33D"/>
            </a:solidFill>
            <a:prstDash val="solid"/>
          </a:ln>
        </p:spPr>
      </p:sp>
      <p:pic>
        <p:nvPicPr>
          <p:cNvPr id="12" name="Image 1" descr="preencoded.png">    </p:cNvPr>
          <p:cNvPicPr>
            <a:picLocks noChangeAspect="1"/>
          </p:cNvPicPr>
          <p:nvPr/>
        </p:nvPicPr>
        <p:blipFill>
          <a:blip r:embed="rId2"/>
          <a:stretch>
            <a:fillRect/>
          </a:stretch>
        </p:blipFill>
        <p:spPr>
          <a:xfrm>
            <a:off x="8074152" y="3300984"/>
            <a:ext cx="256032" cy="256032"/>
          </a:xfrm>
          <a:prstGeom prst="rect">
            <a:avLst/>
          </a:prstGeom>
        </p:spPr>
      </p:pic>
      <p:sp>
        <p:nvSpPr>
          <p:cNvPr id="13" name="Text 8"/>
          <p:cNvSpPr txBox="1"/>
          <p:nvPr/>
        </p:nvSpPr>
        <p:spPr>
          <a:xfrm>
            <a:off x="8577072" y="3154680"/>
            <a:ext cx="2926080" cy="347472"/>
          </a:xfrm>
          <a:prstGeom prst="rect">
            <a:avLst/>
          </a:prstGeom>
          <a:noFill/>
          <a:ln/>
        </p:spPr>
        <p:txBody>
          <a:bodyPr wrap="square" lIns="0" tIns="0" rIns="0" bIns="0" rtlCol="0" anchor="t"/>
          <a:lstStyle/>
          <a:p>
            <a:pPr indent="0" marL="0">
              <a:buNone/>
            </a:pPr>
            <a:r>
              <a:rPr lang="en-US" sz="1400" b="1" dirty="0">
                <a:solidFill>
                  <a:srgbClr val="1B2B34"/>
                </a:solidFill>
                <a:latin typeface="Calibri" pitchFamily="34" charset="0"/>
                <a:ea typeface="Calibri" pitchFamily="34" charset="-122"/>
                <a:cs typeface="Calibri" pitchFamily="34" charset="-120"/>
              </a:rPr>
              <a:t>MBR: consensus caption</a:t>
            </a:r>
            <a:endParaRPr lang="en-US" sz="1400" dirty="0"/>
          </a:p>
        </p:txBody>
      </p:sp>
      <p:sp>
        <p:nvSpPr>
          <p:cNvPr id="14" name="Text 9"/>
          <p:cNvSpPr txBox="1"/>
          <p:nvPr/>
        </p:nvSpPr>
        <p:spPr>
          <a:xfrm>
            <a:off x="8577072" y="3502152"/>
            <a:ext cx="2926080" cy="7315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Greedy + 5 samples; keep the one with the highest BERT-BLEU₄ against the others. No reference is used.</a:t>
            </a:r>
            <a:endParaRPr lang="en-US" sz="1150" dirty="0"/>
          </a:p>
        </p:txBody>
      </p:sp>
      <p:sp>
        <p:nvSpPr>
          <p:cNvPr id="15" name="Shape 10"/>
          <p:cNvSpPr/>
          <p:nvPr/>
        </p:nvSpPr>
        <p:spPr>
          <a:xfrm>
            <a:off x="7818120" y="4434840"/>
            <a:ext cx="3840480" cy="1261872"/>
          </a:xfrm>
          <a:prstGeom prst="roundRect">
            <a:avLst>
              <a:gd name="adj" fmla="val 8696"/>
            </a:avLst>
          </a:prstGeom>
          <a:solidFill>
            <a:srgbClr val="E8F3F2"/>
          </a:solidFill>
          <a:ln w="12700">
            <a:solidFill>
              <a:srgbClr val="E8F3F2"/>
            </a:solidFill>
            <a:prstDash val="solid"/>
          </a:ln>
        </p:spPr>
      </p:sp>
      <p:sp>
        <p:nvSpPr>
          <p:cNvPr id="16" name="Shape 11"/>
          <p:cNvSpPr/>
          <p:nvPr/>
        </p:nvSpPr>
        <p:spPr>
          <a:xfrm>
            <a:off x="7973568" y="4617720"/>
            <a:ext cx="457200" cy="457200"/>
          </a:xfrm>
          <a:prstGeom prst="ellipse">
            <a:avLst/>
          </a:prstGeom>
          <a:solidFill>
            <a:srgbClr val="0F6E74"/>
          </a:solidFill>
          <a:ln w="12700">
            <a:solidFill>
              <a:srgbClr val="0F6E74"/>
            </a:solidFill>
            <a:prstDash val="solid"/>
          </a:ln>
        </p:spPr>
      </p:sp>
      <p:pic>
        <p:nvPicPr>
          <p:cNvPr id="17" name="Image 2" descr="preencoded.png">    </p:cNvPr>
          <p:cNvPicPr>
            <a:picLocks noChangeAspect="1"/>
          </p:cNvPicPr>
          <p:nvPr/>
        </p:nvPicPr>
        <p:blipFill>
          <a:blip r:embed="rId3"/>
          <a:stretch>
            <a:fillRect/>
          </a:stretch>
        </p:blipFill>
        <p:spPr>
          <a:xfrm>
            <a:off x="8074152" y="4718304"/>
            <a:ext cx="256032" cy="256032"/>
          </a:xfrm>
          <a:prstGeom prst="rect">
            <a:avLst/>
          </a:prstGeom>
        </p:spPr>
      </p:pic>
      <p:sp>
        <p:nvSpPr>
          <p:cNvPr id="18" name="Text 12"/>
          <p:cNvSpPr txBox="1"/>
          <p:nvPr/>
        </p:nvSpPr>
        <p:spPr>
          <a:xfrm>
            <a:off x="8577072" y="4572000"/>
            <a:ext cx="2926080" cy="347472"/>
          </a:xfrm>
          <a:prstGeom prst="rect">
            <a:avLst/>
          </a:prstGeom>
          <a:noFill/>
          <a:ln/>
        </p:spPr>
        <p:txBody>
          <a:bodyPr wrap="square" lIns="0" tIns="0" rIns="0" bIns="0" rtlCol="0" anchor="t"/>
          <a:lstStyle/>
          <a:p>
            <a:pPr indent="0" marL="0">
              <a:buNone/>
            </a:pPr>
            <a:r>
              <a:rPr lang="en-US" sz="1400" b="1" dirty="0">
                <a:solidFill>
                  <a:srgbClr val="1B2B34"/>
                </a:solidFill>
                <a:latin typeface="Calibri" pitchFamily="34" charset="0"/>
                <a:ea typeface="Calibri" pitchFamily="34" charset="-122"/>
                <a:cs typeface="Calibri" pitchFamily="34" charset="-120"/>
              </a:rPr>
              <a:t>Sampling noise ±0.004</a:t>
            </a:r>
            <a:endParaRPr lang="en-US" sz="1400" dirty="0"/>
          </a:p>
        </p:txBody>
      </p:sp>
      <p:sp>
        <p:nvSpPr>
          <p:cNvPr id="19" name="Text 13"/>
          <p:cNvSpPr txBox="1"/>
          <p:nvPr/>
        </p:nvSpPr>
        <p:spPr>
          <a:xfrm>
            <a:off x="8577072" y="4919472"/>
            <a:ext cx="2926080" cy="7315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An unseeded MBR rerun gave 0.6722, so the seed is now fixed per batch.</a:t>
            </a:r>
            <a:endParaRPr lang="en-US" sz="1150" dirty="0"/>
          </a:p>
        </p:txBody>
      </p:sp>
      <p:sp>
        <p:nvSpPr>
          <p:cNvPr id="20" name="Text 14"/>
          <p:cNvSpPr txBox="1"/>
          <p:nvPr/>
        </p:nvSpPr>
        <p:spPr>
          <a:xfrm>
            <a:off x="548640" y="5532120"/>
            <a:ext cx="6949440" cy="365760"/>
          </a:xfrm>
          <a:prstGeom prst="rect">
            <a:avLst/>
          </a:prstGeom>
          <a:noFill/>
          <a:ln/>
        </p:spPr>
        <p:txBody>
          <a:bodyPr wrap="square" lIns="0" tIns="0" rIns="0" bIns="0" rtlCol="0" anchor="ctr"/>
          <a:lstStyle/>
          <a:p>
            <a:pPr indent="0" marL="0">
              <a:buNone/>
            </a:pPr>
            <a:r>
              <a:rPr lang="en-US" sz="1500" b="1" dirty="0">
                <a:solidFill>
                  <a:srgbClr val="0F6E74"/>
                </a:solidFill>
                <a:latin typeface="Calibri" pitchFamily="34" charset="0"/>
                <a:ea typeface="Calibri" pitchFamily="34" charset="-122"/>
                <a:cs typeface="Calibri" pitchFamily="34" charset="-120"/>
              </a:rPr>
              <a:t>Decode for the metric you are judged 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Final verdict on 1,000 held-out test images</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Images never used for any decision; Δ is paired against E3 greedy, 95% bootstrap CI</a:t>
            </a:r>
            <a:endParaRPr lang="en-US" sz="1500" dirty="0"/>
          </a:p>
        </p:txBody>
      </p:sp>
      <p:sp>
        <p:nvSpPr>
          <p:cNvPr id="4" name="Shape 2"/>
          <p:cNvSpPr/>
          <p:nvPr/>
        </p:nvSpPr>
        <p:spPr>
          <a:xfrm>
            <a:off x="548640" y="1645920"/>
            <a:ext cx="3520440" cy="3108960"/>
          </a:xfrm>
          <a:prstGeom prst="roundRect">
            <a:avLst>
              <a:gd name="adj" fmla="val 3529"/>
            </a:avLst>
          </a:prstGeom>
          <a:solidFill>
            <a:srgbClr val="E8F3F2"/>
          </a:solidFill>
          <a:ln w="12700">
            <a:solidFill>
              <a:srgbClr val="E8F3F2"/>
            </a:solidFill>
            <a:prstDash val="solid"/>
          </a:ln>
        </p:spPr>
      </p:sp>
      <p:sp>
        <p:nvSpPr>
          <p:cNvPr id="5" name="Text 3"/>
          <p:cNvSpPr txBox="1"/>
          <p:nvPr/>
        </p:nvSpPr>
        <p:spPr>
          <a:xfrm>
            <a:off x="822960" y="1828800"/>
            <a:ext cx="3017520" cy="365760"/>
          </a:xfrm>
          <a:prstGeom prst="rect">
            <a:avLst/>
          </a:prstGeom>
          <a:noFill/>
          <a:ln/>
        </p:spPr>
        <p:txBody>
          <a:bodyPr wrap="square" lIns="0" tIns="0" rIns="0" bIns="0" rtlCol="0" anchor="t"/>
          <a:lstStyle/>
          <a:p>
            <a:pPr indent="0" marL="0">
              <a:buNone/>
            </a:pPr>
            <a:r>
              <a:rPr lang="en-US" sz="1600" b="1" dirty="0">
                <a:solidFill>
                  <a:srgbClr val="0F6E74"/>
                </a:solidFill>
                <a:latin typeface="Calibri" pitchFamily="34" charset="0"/>
                <a:ea typeface="Calibri" pitchFamily="34" charset="-122"/>
                <a:cs typeface="Calibri" pitchFamily="34" charset="-120"/>
              </a:rPr>
              <a:t>E3 · greedy</a:t>
            </a:r>
            <a:endParaRPr lang="en-US" sz="1600" dirty="0"/>
          </a:p>
        </p:txBody>
      </p:sp>
      <p:sp>
        <p:nvSpPr>
          <p:cNvPr id="6" name="Text 4"/>
          <p:cNvSpPr txBox="1"/>
          <p:nvPr/>
        </p:nvSpPr>
        <p:spPr>
          <a:xfrm>
            <a:off x="822960" y="2240280"/>
            <a:ext cx="3017520" cy="868680"/>
          </a:xfrm>
          <a:prstGeom prst="rect">
            <a:avLst/>
          </a:prstGeom>
          <a:noFill/>
          <a:ln/>
        </p:spPr>
        <p:txBody>
          <a:bodyPr wrap="square" lIns="0" tIns="0" rIns="0" bIns="0" rtlCol="0" anchor="ctr"/>
          <a:lstStyle/>
          <a:p>
            <a:pPr indent="0" marL="0">
              <a:buNone/>
            </a:pPr>
            <a:r>
              <a:rPr lang="en-US" sz="4400" b="1" dirty="0">
                <a:solidFill>
                  <a:srgbClr val="0F6E74"/>
                </a:solidFill>
                <a:latin typeface="Cambria" pitchFamily="34" charset="0"/>
                <a:ea typeface="Cambria" pitchFamily="34" charset="-122"/>
                <a:cs typeface="Cambria" pitchFamily="34" charset="-120"/>
              </a:rPr>
              <a:t>0.6694</a:t>
            </a:r>
            <a:endParaRPr lang="en-US" sz="4400" dirty="0"/>
          </a:p>
        </p:txBody>
      </p:sp>
      <p:sp>
        <p:nvSpPr>
          <p:cNvPr id="7" name="Text 5"/>
          <p:cNvSpPr txBox="1"/>
          <p:nvPr/>
        </p:nvSpPr>
        <p:spPr>
          <a:xfrm>
            <a:off x="822960" y="3154680"/>
            <a:ext cx="3017520" cy="36576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best 2k-image model</a:t>
            </a:r>
            <a:endParaRPr lang="en-US" sz="1300" dirty="0"/>
          </a:p>
        </p:txBody>
      </p:sp>
      <p:sp>
        <p:nvSpPr>
          <p:cNvPr id="8" name="Text 6"/>
          <p:cNvSpPr txBox="1"/>
          <p:nvPr/>
        </p:nvSpPr>
        <p:spPr>
          <a:xfrm>
            <a:off x="822960" y="3611880"/>
            <a:ext cx="3017520" cy="411480"/>
          </a:xfrm>
          <a:prstGeom prst="rect">
            <a:avLst/>
          </a:prstGeom>
          <a:noFill/>
          <a:ln/>
        </p:spPr>
        <p:txBody>
          <a:bodyPr wrap="square" lIns="0" tIns="0" rIns="0" bIns="0" rtlCol="0" anchor="t"/>
          <a:lstStyle/>
          <a:p>
            <a:pPr indent="0" marL="0">
              <a:buNone/>
            </a:pPr>
            <a:r>
              <a:rPr lang="en-US" sz="1400" b="1" dirty="0">
                <a:solidFill>
                  <a:srgbClr val="1B2B34"/>
                </a:solidFill>
                <a:latin typeface="Calibri" pitchFamily="34" charset="0"/>
                <a:ea typeface="Calibri" pitchFamily="34" charset="-122"/>
                <a:cs typeface="Calibri" pitchFamily="34" charset="-120"/>
              </a:rPr>
              <a:t>baseline</a:t>
            </a:r>
            <a:endParaRPr lang="en-US" sz="1400" dirty="0"/>
          </a:p>
        </p:txBody>
      </p:sp>
      <p:sp>
        <p:nvSpPr>
          <p:cNvPr id="9" name="Text 7"/>
          <p:cNvSpPr txBox="1"/>
          <p:nvPr/>
        </p:nvSpPr>
        <p:spPr>
          <a:xfrm>
            <a:off x="822960" y="4114800"/>
            <a:ext cx="3017520" cy="36576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1.07 s / image</a:t>
            </a:r>
            <a:endParaRPr lang="en-US" sz="1300" dirty="0"/>
          </a:p>
        </p:txBody>
      </p:sp>
      <p:sp>
        <p:nvSpPr>
          <p:cNvPr id="10" name="Shape 8"/>
          <p:cNvSpPr/>
          <p:nvPr/>
        </p:nvSpPr>
        <p:spPr>
          <a:xfrm>
            <a:off x="4297680" y="1645920"/>
            <a:ext cx="3520440" cy="3108960"/>
          </a:xfrm>
          <a:prstGeom prst="roundRect">
            <a:avLst>
              <a:gd name="adj" fmla="val 3529"/>
            </a:avLst>
          </a:prstGeom>
          <a:solidFill>
            <a:srgbClr val="E8F3F2"/>
          </a:solidFill>
          <a:ln w="12700">
            <a:solidFill>
              <a:srgbClr val="E8F3F2"/>
            </a:solidFill>
            <a:prstDash val="solid"/>
          </a:ln>
        </p:spPr>
      </p:sp>
      <p:sp>
        <p:nvSpPr>
          <p:cNvPr id="11" name="Text 9"/>
          <p:cNvSpPr txBox="1"/>
          <p:nvPr/>
        </p:nvSpPr>
        <p:spPr>
          <a:xfrm>
            <a:off x="4572000" y="1828800"/>
            <a:ext cx="3017520" cy="365760"/>
          </a:xfrm>
          <a:prstGeom prst="rect">
            <a:avLst/>
          </a:prstGeom>
          <a:noFill/>
          <a:ln/>
        </p:spPr>
        <p:txBody>
          <a:bodyPr wrap="square" lIns="0" tIns="0" rIns="0" bIns="0" rtlCol="0" anchor="t"/>
          <a:lstStyle/>
          <a:p>
            <a:pPr indent="0" marL="0">
              <a:buNone/>
            </a:pPr>
            <a:r>
              <a:rPr lang="en-US" sz="1600" b="1" dirty="0">
                <a:solidFill>
                  <a:srgbClr val="0F6E74"/>
                </a:solidFill>
                <a:latin typeface="Calibri" pitchFamily="34" charset="0"/>
                <a:ea typeface="Calibri" pitchFamily="34" charset="-122"/>
                <a:cs typeface="Calibri" pitchFamily="34" charset="-120"/>
              </a:rPr>
              <a:t>E8 · greedy</a:t>
            </a:r>
            <a:endParaRPr lang="en-US" sz="1600" dirty="0"/>
          </a:p>
        </p:txBody>
      </p:sp>
      <p:sp>
        <p:nvSpPr>
          <p:cNvPr id="12" name="Text 10"/>
          <p:cNvSpPr txBox="1"/>
          <p:nvPr/>
        </p:nvSpPr>
        <p:spPr>
          <a:xfrm>
            <a:off x="4572000" y="2240280"/>
            <a:ext cx="3017520" cy="868680"/>
          </a:xfrm>
          <a:prstGeom prst="rect">
            <a:avLst/>
          </a:prstGeom>
          <a:noFill/>
          <a:ln/>
        </p:spPr>
        <p:txBody>
          <a:bodyPr wrap="square" lIns="0" tIns="0" rIns="0" bIns="0" rtlCol="0" anchor="ctr"/>
          <a:lstStyle/>
          <a:p>
            <a:pPr indent="0" marL="0">
              <a:buNone/>
            </a:pPr>
            <a:r>
              <a:rPr lang="en-US" sz="4400" b="1" dirty="0">
                <a:solidFill>
                  <a:srgbClr val="0F6E74"/>
                </a:solidFill>
                <a:latin typeface="Cambria" pitchFamily="34" charset="0"/>
                <a:ea typeface="Cambria" pitchFamily="34" charset="-122"/>
                <a:cs typeface="Cambria" pitchFamily="34" charset="-120"/>
              </a:rPr>
              <a:t>0.6767</a:t>
            </a:r>
            <a:endParaRPr lang="en-US" sz="4400" dirty="0"/>
          </a:p>
        </p:txBody>
      </p:sp>
      <p:sp>
        <p:nvSpPr>
          <p:cNvPr id="13" name="Text 11"/>
          <p:cNvSpPr txBox="1"/>
          <p:nvPr/>
        </p:nvSpPr>
        <p:spPr>
          <a:xfrm>
            <a:off x="4572000" y="3154680"/>
            <a:ext cx="3017520" cy="36576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full data, 2× T4 DDP</a:t>
            </a:r>
            <a:endParaRPr lang="en-US" sz="1300" dirty="0"/>
          </a:p>
        </p:txBody>
      </p:sp>
      <p:sp>
        <p:nvSpPr>
          <p:cNvPr id="14" name="Text 12"/>
          <p:cNvSpPr txBox="1"/>
          <p:nvPr/>
        </p:nvSpPr>
        <p:spPr>
          <a:xfrm>
            <a:off x="4572000" y="3611880"/>
            <a:ext cx="3017520" cy="411480"/>
          </a:xfrm>
          <a:prstGeom prst="rect">
            <a:avLst/>
          </a:prstGeom>
          <a:noFill/>
          <a:ln/>
        </p:spPr>
        <p:txBody>
          <a:bodyPr wrap="square" lIns="0" tIns="0" rIns="0" bIns="0" rtlCol="0" anchor="t"/>
          <a:lstStyle/>
          <a:p>
            <a:pPr indent="0" marL="0">
              <a:buNone/>
            </a:pPr>
            <a:r>
              <a:rPr lang="en-US" sz="1400" b="1" dirty="0">
                <a:solidFill>
                  <a:srgbClr val="1B2B34"/>
                </a:solidFill>
                <a:latin typeface="Calibri" pitchFamily="34" charset="0"/>
                <a:ea typeface="Calibri" pitchFamily="34" charset="-122"/>
                <a:cs typeface="Calibri" pitchFamily="34" charset="-120"/>
              </a:rPr>
              <a:t>+0.0073  [+0.0015, +0.0129]</a:t>
            </a:r>
            <a:endParaRPr lang="en-US" sz="1400" dirty="0"/>
          </a:p>
        </p:txBody>
      </p:sp>
      <p:sp>
        <p:nvSpPr>
          <p:cNvPr id="15" name="Text 13"/>
          <p:cNvSpPr txBox="1"/>
          <p:nvPr/>
        </p:nvSpPr>
        <p:spPr>
          <a:xfrm>
            <a:off x="4572000" y="4114800"/>
            <a:ext cx="3017520" cy="36576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1.09 s / image</a:t>
            </a:r>
            <a:endParaRPr lang="en-US" sz="1300" dirty="0"/>
          </a:p>
        </p:txBody>
      </p:sp>
      <p:sp>
        <p:nvSpPr>
          <p:cNvPr id="16" name="Shape 14"/>
          <p:cNvSpPr/>
          <p:nvPr/>
        </p:nvSpPr>
        <p:spPr>
          <a:xfrm>
            <a:off x="8046720" y="1645920"/>
            <a:ext cx="3520440" cy="3108960"/>
          </a:xfrm>
          <a:prstGeom prst="roundRect">
            <a:avLst>
              <a:gd name="adj" fmla="val 3529"/>
            </a:avLst>
          </a:prstGeom>
          <a:solidFill>
            <a:srgbClr val="FBF0DC"/>
          </a:solidFill>
          <a:ln w="12700">
            <a:solidFill>
              <a:srgbClr val="FBF0DC"/>
            </a:solidFill>
            <a:prstDash val="solid"/>
          </a:ln>
        </p:spPr>
      </p:sp>
      <p:sp>
        <p:nvSpPr>
          <p:cNvPr id="17" name="Text 15"/>
          <p:cNvSpPr txBox="1"/>
          <p:nvPr/>
        </p:nvSpPr>
        <p:spPr>
          <a:xfrm>
            <a:off x="8321040" y="1828800"/>
            <a:ext cx="3017520" cy="365760"/>
          </a:xfrm>
          <a:prstGeom prst="rect">
            <a:avLst/>
          </a:prstGeom>
          <a:noFill/>
          <a:ln/>
        </p:spPr>
        <p:txBody>
          <a:bodyPr wrap="square" lIns="0" tIns="0" rIns="0" bIns="0" rtlCol="0" anchor="t"/>
          <a:lstStyle/>
          <a:p>
            <a:pPr indent="0" marL="0">
              <a:buNone/>
            </a:pPr>
            <a:r>
              <a:rPr lang="en-US" sz="1600" b="1" dirty="0">
                <a:solidFill>
                  <a:srgbClr val="B57A1A"/>
                </a:solidFill>
                <a:latin typeface="Calibri" pitchFamily="34" charset="0"/>
                <a:ea typeface="Calibri" pitchFamily="34" charset="-122"/>
                <a:cs typeface="Calibri" pitchFamily="34" charset="-120"/>
              </a:rPr>
              <a:t>E8 · MBR</a:t>
            </a:r>
            <a:endParaRPr lang="en-US" sz="1600" dirty="0"/>
          </a:p>
        </p:txBody>
      </p:sp>
      <p:sp>
        <p:nvSpPr>
          <p:cNvPr id="18" name="Text 16"/>
          <p:cNvSpPr txBox="1"/>
          <p:nvPr/>
        </p:nvSpPr>
        <p:spPr>
          <a:xfrm>
            <a:off x="8321040" y="2240280"/>
            <a:ext cx="3017520" cy="868680"/>
          </a:xfrm>
          <a:prstGeom prst="rect">
            <a:avLst/>
          </a:prstGeom>
          <a:noFill/>
          <a:ln/>
        </p:spPr>
        <p:txBody>
          <a:bodyPr wrap="square" lIns="0" tIns="0" rIns="0" bIns="0" rtlCol="0" anchor="ctr"/>
          <a:lstStyle/>
          <a:p>
            <a:pPr indent="0" marL="0">
              <a:buNone/>
            </a:pPr>
            <a:r>
              <a:rPr lang="en-US" sz="4400" b="1" dirty="0">
                <a:solidFill>
                  <a:srgbClr val="B57A1A"/>
                </a:solidFill>
                <a:latin typeface="Cambria" pitchFamily="34" charset="0"/>
                <a:ea typeface="Cambria" pitchFamily="34" charset="-122"/>
                <a:cs typeface="Cambria" pitchFamily="34" charset="-120"/>
              </a:rPr>
              <a:t>0.6860</a:t>
            </a:r>
            <a:endParaRPr lang="en-US" sz="4400" dirty="0"/>
          </a:p>
        </p:txBody>
      </p:sp>
      <p:sp>
        <p:nvSpPr>
          <p:cNvPr id="19" name="Text 17"/>
          <p:cNvSpPr txBox="1"/>
          <p:nvPr/>
        </p:nvSpPr>
        <p:spPr>
          <a:xfrm>
            <a:off x="8321040" y="3154680"/>
            <a:ext cx="3017520" cy="36576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full data + consensus decoding</a:t>
            </a:r>
            <a:endParaRPr lang="en-US" sz="1300" dirty="0"/>
          </a:p>
        </p:txBody>
      </p:sp>
      <p:sp>
        <p:nvSpPr>
          <p:cNvPr id="20" name="Text 18"/>
          <p:cNvSpPr txBox="1"/>
          <p:nvPr/>
        </p:nvSpPr>
        <p:spPr>
          <a:xfrm>
            <a:off x="8321040" y="3611880"/>
            <a:ext cx="3017520" cy="411480"/>
          </a:xfrm>
          <a:prstGeom prst="rect">
            <a:avLst/>
          </a:prstGeom>
          <a:noFill/>
          <a:ln/>
        </p:spPr>
        <p:txBody>
          <a:bodyPr wrap="square" lIns="0" tIns="0" rIns="0" bIns="0" rtlCol="0" anchor="t"/>
          <a:lstStyle/>
          <a:p>
            <a:pPr indent="0" marL="0">
              <a:buNone/>
            </a:pPr>
            <a:r>
              <a:rPr lang="en-US" sz="1400" b="1" dirty="0">
                <a:solidFill>
                  <a:srgbClr val="1B2B34"/>
                </a:solidFill>
                <a:latin typeface="Calibri" pitchFamily="34" charset="0"/>
                <a:ea typeface="Calibri" pitchFamily="34" charset="-122"/>
                <a:cs typeface="Calibri" pitchFamily="34" charset="-120"/>
              </a:rPr>
              <a:t>+0.0166  [+0.0114, +0.0220]</a:t>
            </a:r>
            <a:endParaRPr lang="en-US" sz="1400" dirty="0"/>
          </a:p>
        </p:txBody>
      </p:sp>
      <p:sp>
        <p:nvSpPr>
          <p:cNvPr id="21" name="Text 19"/>
          <p:cNvSpPr txBox="1"/>
          <p:nvPr/>
        </p:nvSpPr>
        <p:spPr>
          <a:xfrm>
            <a:off x="8321040" y="4114800"/>
            <a:ext cx="3017520" cy="36576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4.73 s / image</a:t>
            </a:r>
            <a:endParaRPr lang="en-US" sz="1300" dirty="0"/>
          </a:p>
        </p:txBody>
      </p:sp>
      <p:sp>
        <p:nvSpPr>
          <p:cNvPr id="22" name="Text 20"/>
          <p:cNvSpPr txBox="1"/>
          <p:nvPr/>
        </p:nvSpPr>
        <p:spPr>
          <a:xfrm>
            <a:off x="548640" y="4983480"/>
            <a:ext cx="11064240" cy="1188720"/>
          </a:xfrm>
          <a:prstGeom prst="rect">
            <a:avLst/>
          </a:prstGeom>
          <a:noFill/>
          <a:ln/>
        </p:spPr>
        <p:txBody>
          <a:bodyPr wrap="square" lIns="0" tIns="0" rIns="0" bIns="0" rtlCol="0" anchor="t"/>
          <a:lstStyle/>
          <a:p>
            <a:pPr indent="0" marL="0">
              <a:spcAft>
                <a:spcPts val="600"/>
              </a:spcAft>
              <a:buNone/>
            </a:pPr>
            <a:r>
              <a:rPr lang="en-US" sz="1400" b="1" dirty="0">
                <a:solidFill>
                  <a:srgbClr val="0F6E74"/>
                </a:solidFill>
                <a:latin typeface="Calibri" pitchFamily="34" charset="0"/>
                <a:ea typeface="Calibri" pitchFamily="34" charset="-122"/>
                <a:cs typeface="Calibri" pitchFamily="34" charset="-120"/>
              </a:rPr>
              <a:t>Training effect: </a:t>
            </a:r>
            <a:pPr indent="0" marL="0">
              <a:spcAft>
                <a:spcPts val="600"/>
              </a:spcAft>
              <a:buNone/>
            </a:pPr>
            <a:r>
              <a:rPr lang="en-US" sz="1400" dirty="0">
                <a:solidFill>
                  <a:srgbClr val="1B2B34"/>
                </a:solidFill>
                <a:latin typeface="Calibri" pitchFamily="34" charset="0"/>
                <a:ea typeface="Calibri" pitchFamily="34" charset="-122"/>
                <a:cs typeface="Calibri" pitchFamily="34" charset="-120"/>
              </a:rPr>
              <a:t>E8 vs E3 +0.0073, significant; content 0.781 → 0.789, BLEU-4 0.097 → 0.110.</a:t>
            </a:r>
            <a:endParaRPr lang="en-US" sz="1400" dirty="0"/>
          </a:p>
          <a:p>
            <a:pPr indent="0" marL="0">
              <a:spcAft>
                <a:spcPts val="600"/>
              </a:spcAft>
              <a:buNone/>
            </a:pPr>
            <a:r>
              <a:rPr lang="en-US" sz="1400" b="1" dirty="0">
                <a:solidFill>
                  <a:srgbClr val="0F6E74"/>
                </a:solidFill>
                <a:latin typeface="Calibri" pitchFamily="34" charset="0"/>
                <a:ea typeface="Calibri" pitchFamily="34" charset="-122"/>
                <a:cs typeface="Calibri" pitchFamily="34" charset="-120"/>
              </a:rPr>
              <a:t>Decoding effect: </a:t>
            </a:r>
            <a:pPr indent="0" marL="0">
              <a:spcAft>
                <a:spcPts val="600"/>
              </a:spcAft>
              <a:buNone/>
            </a:pPr>
            <a:r>
              <a:rPr lang="en-US" sz="1400" dirty="0">
                <a:solidFill>
                  <a:srgbClr val="1B2B34"/>
                </a:solidFill>
                <a:latin typeface="Calibri" pitchFamily="34" charset="0"/>
                <a:ea typeface="Calibri" pitchFamily="34" charset="-122"/>
                <a:cs typeface="Calibri" pitchFamily="34" charset="-120"/>
              </a:rPr>
              <a:t>MBR vs greedy on E8 +0.0093 [+0.0052, +0.0134], at 4.4× inference time.</a:t>
            </a:r>
            <a:endParaRPr lang="en-US" sz="1400" dirty="0"/>
          </a:p>
          <a:p>
            <a:pPr indent="0" marL="0">
              <a:spcAft>
                <a:spcPts val="600"/>
              </a:spcAft>
              <a:buNone/>
            </a:pPr>
            <a:r>
              <a:rPr lang="en-US" sz="1400" b="1" dirty="0">
                <a:solidFill>
                  <a:srgbClr val="0F6E74"/>
                </a:solidFill>
                <a:latin typeface="Calibri" pitchFamily="34" charset="0"/>
                <a:ea typeface="Calibri" pitchFamily="34" charset="-122"/>
                <a:cs typeface="Calibri" pitchFamily="34" charset="-120"/>
              </a:rPr>
              <a:t>Robustness: </a:t>
            </a:r>
            <a:pPr indent="0" marL="0">
              <a:spcAft>
                <a:spcPts val="600"/>
              </a:spcAft>
              <a:buNone/>
            </a:pPr>
            <a:r>
              <a:rPr lang="en-US" sz="1400" dirty="0">
                <a:solidFill>
                  <a:srgbClr val="1B2B34"/>
                </a:solidFill>
                <a:latin typeface="Calibri" pitchFamily="34" charset="0"/>
                <a:ea typeface="Calibri" pitchFamily="34" charset="-122"/>
                <a:cs typeface="Calibri" pitchFamily="34" charset="-120"/>
              </a:rPr>
              <a:t>without the 4 images with a broken fp16 caption, +0.0067 and +0.0153; same conclusions.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Inference considerations and robustness fixes</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What it took to generate ~5,800 captions on two T4s without silent errors</a:t>
            </a:r>
            <a:endParaRPr lang="en-US" sz="1500" dirty="0"/>
          </a:p>
        </p:txBody>
      </p:sp>
      <p:sp>
        <p:nvSpPr>
          <p:cNvPr id="4" name="Shape 2"/>
          <p:cNvSpPr/>
          <p:nvPr/>
        </p:nvSpPr>
        <p:spPr>
          <a:xfrm>
            <a:off x="548640" y="1645920"/>
            <a:ext cx="3520440" cy="1920240"/>
          </a:xfrm>
          <a:prstGeom prst="roundRect">
            <a:avLst>
              <a:gd name="adj" fmla="val 5714"/>
            </a:avLst>
          </a:prstGeom>
          <a:solidFill>
            <a:srgbClr val="E8F3F2"/>
          </a:solidFill>
          <a:ln w="12700">
            <a:solidFill>
              <a:srgbClr val="E8F3F2"/>
            </a:solidFill>
            <a:prstDash val="solid"/>
          </a:ln>
        </p:spPr>
      </p:sp>
      <p:sp>
        <p:nvSpPr>
          <p:cNvPr id="5" name="Shape 3"/>
          <p:cNvSpPr/>
          <p:nvPr/>
        </p:nvSpPr>
        <p:spPr>
          <a:xfrm>
            <a:off x="777240" y="1874520"/>
            <a:ext cx="502920" cy="502920"/>
          </a:xfrm>
          <a:prstGeom prst="ellipse">
            <a:avLst/>
          </a:prstGeom>
          <a:solidFill>
            <a:srgbClr val="0F6E74"/>
          </a:solidFill>
          <a:ln w="12700">
            <a:solidFill>
              <a:srgbClr val="0F6E74"/>
            </a:solidFill>
            <a:prstDash val="solid"/>
          </a:ln>
        </p:spPr>
      </p:sp>
      <p:pic>
        <p:nvPicPr>
          <p:cNvPr id="6" name="Image 0" descr="preencoded.png">    </p:cNvPr>
          <p:cNvPicPr>
            <a:picLocks noChangeAspect="1"/>
          </p:cNvPicPr>
          <p:nvPr/>
        </p:nvPicPr>
        <p:blipFill>
          <a:blip r:embed="rId1"/>
          <a:stretch>
            <a:fillRect/>
          </a:stretch>
        </p:blipFill>
        <p:spPr>
          <a:xfrm>
            <a:off x="887882" y="1985162"/>
            <a:ext cx="281635" cy="281635"/>
          </a:xfrm>
          <a:prstGeom prst="rect">
            <a:avLst/>
          </a:prstGeom>
        </p:spPr>
      </p:pic>
      <p:sp>
        <p:nvSpPr>
          <p:cNvPr id="7" name="Text 4"/>
          <p:cNvSpPr txBox="1"/>
          <p:nvPr/>
        </p:nvSpPr>
        <p:spPr>
          <a:xfrm>
            <a:off x="1417320" y="1920240"/>
            <a:ext cx="2514600" cy="41148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Batched generation</a:t>
            </a:r>
            <a:endParaRPr lang="en-US" sz="1500" dirty="0"/>
          </a:p>
        </p:txBody>
      </p:sp>
      <p:sp>
        <p:nvSpPr>
          <p:cNvPr id="8" name="Text 5"/>
          <p:cNvSpPr txBox="1"/>
          <p:nvPr/>
        </p:nvSpPr>
        <p:spPr>
          <a:xfrm>
            <a:off x="777240" y="2514600"/>
            <a:ext cx="3108960" cy="96012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8 images per call (≤ 16 sequences for beam or sampling): 1.07 s per image on one T4.</a:t>
            </a:r>
            <a:endParaRPr lang="en-US" sz="1250" dirty="0"/>
          </a:p>
        </p:txBody>
      </p:sp>
      <p:sp>
        <p:nvSpPr>
          <p:cNvPr id="9" name="Shape 6"/>
          <p:cNvSpPr/>
          <p:nvPr/>
        </p:nvSpPr>
        <p:spPr>
          <a:xfrm>
            <a:off x="4297680" y="1645920"/>
            <a:ext cx="3520440" cy="1920240"/>
          </a:xfrm>
          <a:prstGeom prst="roundRect">
            <a:avLst>
              <a:gd name="adj" fmla="val 5714"/>
            </a:avLst>
          </a:prstGeom>
          <a:solidFill>
            <a:srgbClr val="E8F3F2"/>
          </a:solidFill>
          <a:ln w="12700">
            <a:solidFill>
              <a:srgbClr val="E8F3F2"/>
            </a:solidFill>
            <a:prstDash val="solid"/>
          </a:ln>
        </p:spPr>
      </p:sp>
      <p:sp>
        <p:nvSpPr>
          <p:cNvPr id="10" name="Shape 7"/>
          <p:cNvSpPr/>
          <p:nvPr/>
        </p:nvSpPr>
        <p:spPr>
          <a:xfrm>
            <a:off x="4526280" y="1874520"/>
            <a:ext cx="502920" cy="502920"/>
          </a:xfrm>
          <a:prstGeom prst="ellipse">
            <a:avLst/>
          </a:prstGeom>
          <a:solidFill>
            <a:srgbClr val="0F6E74"/>
          </a:solidFill>
          <a:ln w="12700">
            <a:solidFill>
              <a:srgbClr val="0F6E74"/>
            </a:solidFill>
            <a:prstDash val="solid"/>
          </a:ln>
        </p:spPr>
      </p:sp>
      <p:pic>
        <p:nvPicPr>
          <p:cNvPr id="11" name="Image 1" descr="preencoded.png">    </p:cNvPr>
          <p:cNvPicPr>
            <a:picLocks noChangeAspect="1"/>
          </p:cNvPicPr>
          <p:nvPr/>
        </p:nvPicPr>
        <p:blipFill>
          <a:blip r:embed="rId2"/>
          <a:stretch>
            <a:fillRect/>
          </a:stretch>
        </p:blipFill>
        <p:spPr>
          <a:xfrm>
            <a:off x="4636922" y="1985162"/>
            <a:ext cx="281635" cy="281635"/>
          </a:xfrm>
          <a:prstGeom prst="rect">
            <a:avLst/>
          </a:prstGeom>
        </p:spPr>
      </p:pic>
      <p:sp>
        <p:nvSpPr>
          <p:cNvPr id="12" name="Text 8"/>
          <p:cNvSpPr txBox="1"/>
          <p:nvPr/>
        </p:nvSpPr>
        <p:spPr>
          <a:xfrm>
            <a:off x="5166360" y="1920240"/>
            <a:ext cx="2514600" cy="41148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OOM fallback</a:t>
            </a:r>
            <a:endParaRPr lang="en-US" sz="1500" dirty="0"/>
          </a:p>
        </p:txBody>
      </p:sp>
      <p:sp>
        <p:nvSpPr>
          <p:cNvPr id="13" name="Text 9"/>
          <p:cNvSpPr txBox="1"/>
          <p:nvPr/>
        </p:nvSpPr>
        <p:spPr>
          <a:xfrm>
            <a:off x="4526280" y="2514600"/>
            <a:ext cx="3108960" cy="96012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On CUDA out-of-memory a batch is halved and retried; the model-loading cell frees the previous copy.</a:t>
            </a:r>
            <a:endParaRPr lang="en-US" sz="1250" dirty="0"/>
          </a:p>
        </p:txBody>
      </p:sp>
      <p:sp>
        <p:nvSpPr>
          <p:cNvPr id="14" name="Shape 10"/>
          <p:cNvSpPr/>
          <p:nvPr/>
        </p:nvSpPr>
        <p:spPr>
          <a:xfrm>
            <a:off x="8046720" y="1645920"/>
            <a:ext cx="3520440" cy="1920240"/>
          </a:xfrm>
          <a:prstGeom prst="roundRect">
            <a:avLst>
              <a:gd name="adj" fmla="val 5714"/>
            </a:avLst>
          </a:prstGeom>
          <a:solidFill>
            <a:srgbClr val="E8F3F2"/>
          </a:solidFill>
          <a:ln w="12700">
            <a:solidFill>
              <a:srgbClr val="E8F3F2"/>
            </a:solidFill>
            <a:prstDash val="solid"/>
          </a:ln>
        </p:spPr>
      </p:sp>
      <p:sp>
        <p:nvSpPr>
          <p:cNvPr id="15" name="Shape 11"/>
          <p:cNvSpPr/>
          <p:nvPr/>
        </p:nvSpPr>
        <p:spPr>
          <a:xfrm>
            <a:off x="8275320" y="1874520"/>
            <a:ext cx="502920" cy="502920"/>
          </a:xfrm>
          <a:prstGeom prst="ellipse">
            <a:avLst/>
          </a:prstGeom>
          <a:solidFill>
            <a:srgbClr val="0F6E74"/>
          </a:solidFill>
          <a:ln w="12700">
            <a:solidFill>
              <a:srgbClr val="0F6E74"/>
            </a:solidFill>
            <a:prstDash val="solid"/>
          </a:ln>
        </p:spPr>
      </p:sp>
      <p:pic>
        <p:nvPicPr>
          <p:cNvPr id="16" name="Image 2" descr="preencoded.png">    </p:cNvPr>
          <p:cNvPicPr>
            <a:picLocks noChangeAspect="1"/>
          </p:cNvPicPr>
          <p:nvPr/>
        </p:nvPicPr>
        <p:blipFill>
          <a:blip r:embed="rId3"/>
          <a:stretch>
            <a:fillRect/>
          </a:stretch>
        </p:blipFill>
        <p:spPr>
          <a:xfrm>
            <a:off x="8385962" y="1985162"/>
            <a:ext cx="281635" cy="281635"/>
          </a:xfrm>
          <a:prstGeom prst="rect">
            <a:avLst/>
          </a:prstGeom>
        </p:spPr>
      </p:pic>
      <p:sp>
        <p:nvSpPr>
          <p:cNvPr id="17" name="Text 12"/>
          <p:cNvSpPr txBox="1"/>
          <p:nvPr/>
        </p:nvSpPr>
        <p:spPr>
          <a:xfrm>
            <a:off x="8915400" y="1920240"/>
            <a:ext cx="2514600" cy="41148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NaN guard</a:t>
            </a:r>
            <a:endParaRPr lang="en-US" sz="1500" dirty="0"/>
          </a:p>
        </p:txBody>
      </p:sp>
      <p:sp>
        <p:nvSpPr>
          <p:cNvPr id="18" name="Text 13"/>
          <p:cNvSpPr txBox="1"/>
          <p:nvPr/>
        </p:nvSpPr>
        <p:spPr>
          <a:xfrm>
            <a:off x="8275320" y="2514600"/>
            <a:ext cx="3108960" cy="96012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fp16 NaN logits crashed sampling ("device-side assert"); remove_invalid_values stops them.</a:t>
            </a:r>
            <a:endParaRPr lang="en-US" sz="1250" dirty="0"/>
          </a:p>
        </p:txBody>
      </p:sp>
      <p:sp>
        <p:nvSpPr>
          <p:cNvPr id="19" name="Shape 14"/>
          <p:cNvSpPr/>
          <p:nvPr/>
        </p:nvSpPr>
        <p:spPr>
          <a:xfrm>
            <a:off x="548640" y="3794760"/>
            <a:ext cx="3520440" cy="1920240"/>
          </a:xfrm>
          <a:prstGeom prst="roundRect">
            <a:avLst>
              <a:gd name="adj" fmla="val 5714"/>
            </a:avLst>
          </a:prstGeom>
          <a:solidFill>
            <a:srgbClr val="E8F3F2"/>
          </a:solidFill>
          <a:ln w="12700">
            <a:solidFill>
              <a:srgbClr val="E8F3F2"/>
            </a:solidFill>
            <a:prstDash val="solid"/>
          </a:ln>
        </p:spPr>
      </p:sp>
      <p:sp>
        <p:nvSpPr>
          <p:cNvPr id="20" name="Shape 15"/>
          <p:cNvSpPr/>
          <p:nvPr/>
        </p:nvSpPr>
        <p:spPr>
          <a:xfrm>
            <a:off x="777240" y="4023360"/>
            <a:ext cx="502920" cy="502920"/>
          </a:xfrm>
          <a:prstGeom prst="ellipse">
            <a:avLst/>
          </a:prstGeom>
          <a:solidFill>
            <a:srgbClr val="E8A33D"/>
          </a:solidFill>
          <a:ln w="12700">
            <a:solidFill>
              <a:srgbClr val="E8A33D"/>
            </a:solidFill>
            <a:prstDash val="solid"/>
          </a:ln>
        </p:spPr>
      </p:sp>
      <p:pic>
        <p:nvPicPr>
          <p:cNvPr id="21" name="Image 3" descr="preencoded.png">    </p:cNvPr>
          <p:cNvPicPr>
            <a:picLocks noChangeAspect="1"/>
          </p:cNvPicPr>
          <p:nvPr/>
        </p:nvPicPr>
        <p:blipFill>
          <a:blip r:embed="rId4"/>
          <a:stretch>
            <a:fillRect/>
          </a:stretch>
        </p:blipFill>
        <p:spPr>
          <a:xfrm>
            <a:off x="887882" y="4134002"/>
            <a:ext cx="281635" cy="281635"/>
          </a:xfrm>
          <a:prstGeom prst="rect">
            <a:avLst/>
          </a:prstGeom>
        </p:spPr>
      </p:pic>
      <p:sp>
        <p:nvSpPr>
          <p:cNvPr id="22" name="Text 16"/>
          <p:cNvSpPr txBox="1"/>
          <p:nvPr/>
        </p:nvSpPr>
        <p:spPr>
          <a:xfrm>
            <a:off x="1417320" y="4069080"/>
            <a:ext cx="2514600" cy="41148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Broken-caption repair</a:t>
            </a:r>
            <a:endParaRPr lang="en-US" sz="1500" dirty="0"/>
          </a:p>
        </p:txBody>
      </p:sp>
      <p:sp>
        <p:nvSpPr>
          <p:cNvPr id="23" name="Text 17"/>
          <p:cNvSpPr txBox="1"/>
          <p:nvPr/>
        </p:nvSpPr>
        <p:spPr>
          <a:xfrm>
            <a:off x="777240" y="4663440"/>
            <a:ext cx="3108960" cy="96012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9 of ~5,800 captions were "!!!!…" in padded fp16 batches; they are regenerated alone, then with an fp32 ViT.</a:t>
            </a:r>
            <a:endParaRPr lang="en-US" sz="1250" dirty="0"/>
          </a:p>
        </p:txBody>
      </p:sp>
      <p:sp>
        <p:nvSpPr>
          <p:cNvPr id="24" name="Shape 18"/>
          <p:cNvSpPr/>
          <p:nvPr/>
        </p:nvSpPr>
        <p:spPr>
          <a:xfrm>
            <a:off x="4297680" y="3794760"/>
            <a:ext cx="3520440" cy="1920240"/>
          </a:xfrm>
          <a:prstGeom prst="roundRect">
            <a:avLst>
              <a:gd name="adj" fmla="val 5714"/>
            </a:avLst>
          </a:prstGeom>
          <a:solidFill>
            <a:srgbClr val="E8F3F2"/>
          </a:solidFill>
          <a:ln w="12700">
            <a:solidFill>
              <a:srgbClr val="E8F3F2"/>
            </a:solidFill>
            <a:prstDash val="solid"/>
          </a:ln>
        </p:spPr>
      </p:sp>
      <p:sp>
        <p:nvSpPr>
          <p:cNvPr id="25" name="Shape 19"/>
          <p:cNvSpPr/>
          <p:nvPr/>
        </p:nvSpPr>
        <p:spPr>
          <a:xfrm>
            <a:off x="4526280" y="4023360"/>
            <a:ext cx="502920" cy="502920"/>
          </a:xfrm>
          <a:prstGeom prst="ellipse">
            <a:avLst/>
          </a:prstGeom>
          <a:solidFill>
            <a:srgbClr val="0F6E74"/>
          </a:solidFill>
          <a:ln w="12700">
            <a:solidFill>
              <a:srgbClr val="0F6E74"/>
            </a:solidFill>
            <a:prstDash val="solid"/>
          </a:ln>
        </p:spPr>
      </p:sp>
      <p:pic>
        <p:nvPicPr>
          <p:cNvPr id="26" name="Image 4" descr="preencoded.png">    </p:cNvPr>
          <p:cNvPicPr>
            <a:picLocks noChangeAspect="1"/>
          </p:cNvPicPr>
          <p:nvPr/>
        </p:nvPicPr>
        <p:blipFill>
          <a:blip r:embed="rId5"/>
          <a:stretch>
            <a:fillRect/>
          </a:stretch>
        </p:blipFill>
        <p:spPr>
          <a:xfrm>
            <a:off x="4636922" y="4134002"/>
            <a:ext cx="281635" cy="281635"/>
          </a:xfrm>
          <a:prstGeom prst="rect">
            <a:avLst/>
          </a:prstGeom>
        </p:spPr>
      </p:pic>
      <p:sp>
        <p:nvSpPr>
          <p:cNvPr id="27" name="Text 20"/>
          <p:cNvSpPr txBox="1"/>
          <p:nvPr/>
        </p:nvSpPr>
        <p:spPr>
          <a:xfrm>
            <a:off x="5166360" y="4069080"/>
            <a:ext cx="2514600" cy="41148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Cache + resume</a:t>
            </a:r>
            <a:endParaRPr lang="en-US" sz="1500" dirty="0"/>
          </a:p>
        </p:txBody>
      </p:sp>
      <p:sp>
        <p:nvSpPr>
          <p:cNvPr id="28" name="Text 21"/>
          <p:cNvSpPr txBox="1"/>
          <p:nvPr/>
        </p:nvSpPr>
        <p:spPr>
          <a:xfrm>
            <a:off x="4526280" y="4663440"/>
            <a:ext cx="3108960" cy="96012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Every (adapter, decoding, split) is saved; a restarted session regenerates only what is missing.</a:t>
            </a:r>
            <a:endParaRPr lang="en-US" sz="1250" dirty="0"/>
          </a:p>
        </p:txBody>
      </p:sp>
      <p:sp>
        <p:nvSpPr>
          <p:cNvPr id="29" name="Shape 22"/>
          <p:cNvSpPr/>
          <p:nvPr/>
        </p:nvSpPr>
        <p:spPr>
          <a:xfrm>
            <a:off x="8046720" y="3794760"/>
            <a:ext cx="3520440" cy="1920240"/>
          </a:xfrm>
          <a:prstGeom prst="roundRect">
            <a:avLst>
              <a:gd name="adj" fmla="val 5714"/>
            </a:avLst>
          </a:prstGeom>
          <a:solidFill>
            <a:srgbClr val="E8F3F2"/>
          </a:solidFill>
          <a:ln w="12700">
            <a:solidFill>
              <a:srgbClr val="E8F3F2"/>
            </a:solidFill>
            <a:prstDash val="solid"/>
          </a:ln>
        </p:spPr>
      </p:sp>
      <p:sp>
        <p:nvSpPr>
          <p:cNvPr id="30" name="Shape 23"/>
          <p:cNvSpPr/>
          <p:nvPr/>
        </p:nvSpPr>
        <p:spPr>
          <a:xfrm>
            <a:off x="8275320" y="4023360"/>
            <a:ext cx="502920" cy="502920"/>
          </a:xfrm>
          <a:prstGeom prst="ellipse">
            <a:avLst/>
          </a:prstGeom>
          <a:solidFill>
            <a:srgbClr val="0F6E74"/>
          </a:solidFill>
          <a:ln w="12700">
            <a:solidFill>
              <a:srgbClr val="0F6E74"/>
            </a:solidFill>
            <a:prstDash val="solid"/>
          </a:ln>
        </p:spPr>
      </p:sp>
      <p:pic>
        <p:nvPicPr>
          <p:cNvPr id="31" name="Image 5" descr="preencoded.png">    </p:cNvPr>
          <p:cNvPicPr>
            <a:picLocks noChangeAspect="1"/>
          </p:cNvPicPr>
          <p:nvPr/>
        </p:nvPicPr>
        <p:blipFill>
          <a:blip r:embed="rId6"/>
          <a:stretch>
            <a:fillRect/>
          </a:stretch>
        </p:blipFill>
        <p:spPr>
          <a:xfrm>
            <a:off x="8385962" y="4134002"/>
            <a:ext cx="281635" cy="281635"/>
          </a:xfrm>
          <a:prstGeom prst="rect">
            <a:avLst/>
          </a:prstGeom>
        </p:spPr>
      </p:pic>
      <p:sp>
        <p:nvSpPr>
          <p:cNvPr id="32" name="Text 24"/>
          <p:cNvSpPr txBox="1"/>
          <p:nvPr/>
        </p:nvSpPr>
        <p:spPr>
          <a:xfrm>
            <a:off x="8915400" y="4069080"/>
            <a:ext cx="2514600" cy="41148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Deployment cost</a:t>
            </a:r>
            <a:endParaRPr lang="en-US" sz="1500" dirty="0"/>
          </a:p>
        </p:txBody>
      </p:sp>
      <p:sp>
        <p:nvSpPr>
          <p:cNvPr id="33" name="Text 25"/>
          <p:cNvSpPr txBox="1"/>
          <p:nvPr/>
        </p:nvSpPr>
        <p:spPr>
          <a:xfrm>
            <a:off x="8275320" y="4663440"/>
            <a:ext cx="3108960" cy="96012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LoRA merges into W₀: zero added latency. GQA keeps the KV cache at 36 KB per token.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2A"/>
        </a:solidFill>
      </p:bgPr>
    </p:bg>
    <p:spTree>
      <p:nvGrpSpPr>
        <p:cNvPr id="1" name=""/>
        <p:cNvGrpSpPr/>
        <p:nvPr/>
      </p:nvGrpSpPr>
      <p:grpSpPr>
        <a:xfrm>
          <a:off x="0" y="0"/>
          <a:ext cx="0" cy="0"/>
          <a:chOff x="0" y="0"/>
          <a:chExt cx="0" cy="0"/>
        </a:xfrm>
      </p:grpSpPr>
      <p:sp>
        <p:nvSpPr>
          <p:cNvPr id="2" name="Text 0"/>
          <p:cNvSpPr txBox="1"/>
          <p:nvPr/>
        </p:nvSpPr>
        <p:spPr>
          <a:xfrm>
            <a:off x="640080" y="502920"/>
            <a:ext cx="100584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Takeaways</a:t>
            </a:r>
            <a:endParaRPr lang="en-US" sz="3800" dirty="0"/>
          </a:p>
        </p:txBody>
      </p:sp>
      <p:sp>
        <p:nvSpPr>
          <p:cNvPr id="3" name="Shape 1"/>
          <p:cNvSpPr/>
          <p:nvPr/>
        </p:nvSpPr>
        <p:spPr>
          <a:xfrm>
            <a:off x="685800" y="1554480"/>
            <a:ext cx="457200" cy="457200"/>
          </a:xfrm>
          <a:prstGeom prst="ellipse">
            <a:avLst/>
          </a:prstGeom>
          <a:solidFill>
            <a:srgbClr val="E8A33D"/>
          </a:solidFill>
          <a:ln w="12700">
            <a:solidFill>
              <a:srgbClr val="E8A33D"/>
            </a:solidFill>
            <a:prstDash val="solid"/>
          </a:ln>
        </p:spPr>
      </p:sp>
      <p:sp>
        <p:nvSpPr>
          <p:cNvPr id="4" name="Text 2"/>
          <p:cNvSpPr txBox="1"/>
          <p:nvPr/>
        </p:nvSpPr>
        <p:spPr>
          <a:xfrm>
            <a:off x="685800" y="15544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 name="Text 3"/>
          <p:cNvSpPr txBox="1"/>
          <p:nvPr/>
        </p:nvSpPr>
        <p:spPr>
          <a:xfrm>
            <a:off x="1371600" y="1508760"/>
            <a:ext cx="9601200" cy="384048"/>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Measure on enough images</a:t>
            </a:r>
            <a:endParaRPr lang="en-US" sz="1800" dirty="0"/>
          </a:p>
        </p:txBody>
      </p:sp>
      <p:sp>
        <p:nvSpPr>
          <p:cNvPr id="6" name="Text 4"/>
          <p:cNvSpPr txBox="1"/>
          <p:nvPr/>
        </p:nvSpPr>
        <p:spPr>
          <a:xfrm>
            <a:off x="1371600" y="1920240"/>
            <a:ext cx="9601200" cy="411480"/>
          </a:xfrm>
          <a:prstGeom prst="rect">
            <a:avLst/>
          </a:prstGeom>
          <a:noFill/>
          <a:ln/>
        </p:spPr>
        <p:txBody>
          <a:bodyPr wrap="square" lIns="0" tIns="0" rIns="0" bIns="0" rtlCol="0" anchor="t"/>
          <a:lstStyle/>
          <a:p>
            <a:pPr indent="0" marL="0">
              <a:buNone/>
            </a:pPr>
            <a:r>
              <a:rPr lang="en-US" sz="1400" dirty="0">
                <a:solidFill>
                  <a:srgbClr val="CFE3E1"/>
                </a:solidFill>
                <a:latin typeface="Calibri" pitchFamily="34" charset="0"/>
                <a:ea typeface="Calibri" pitchFamily="34" charset="-122"/>
                <a:cs typeface="Calibri" pitchFamily="34" charset="-120"/>
              </a:rPr>
              <a:t>200 images could not separate runs that 1,000 held-out images could.</a:t>
            </a:r>
            <a:endParaRPr lang="en-US" sz="1400" dirty="0"/>
          </a:p>
        </p:txBody>
      </p:sp>
      <p:sp>
        <p:nvSpPr>
          <p:cNvPr id="7" name="Shape 5"/>
          <p:cNvSpPr/>
          <p:nvPr/>
        </p:nvSpPr>
        <p:spPr>
          <a:xfrm>
            <a:off x="685800" y="2560320"/>
            <a:ext cx="457200" cy="457200"/>
          </a:xfrm>
          <a:prstGeom prst="ellipse">
            <a:avLst/>
          </a:prstGeom>
          <a:solidFill>
            <a:srgbClr val="E8A33D"/>
          </a:solidFill>
          <a:ln w="12700">
            <a:solidFill>
              <a:srgbClr val="E8A33D"/>
            </a:solidFill>
            <a:prstDash val="solid"/>
          </a:ln>
        </p:spPr>
      </p:sp>
      <p:sp>
        <p:nvSpPr>
          <p:cNvPr id="8" name="Text 6"/>
          <p:cNvSpPr txBox="1"/>
          <p:nvPr/>
        </p:nvSpPr>
        <p:spPr>
          <a:xfrm>
            <a:off x="685800" y="25603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1371600" y="2514600"/>
            <a:ext cx="9601200" cy="384048"/>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Stability is an optimization</a:t>
            </a:r>
            <a:endParaRPr lang="en-US" sz="1800" dirty="0"/>
          </a:p>
        </p:txBody>
      </p:sp>
      <p:sp>
        <p:nvSpPr>
          <p:cNvPr id="10" name="Text 8"/>
          <p:cNvSpPr txBox="1"/>
          <p:nvPr/>
        </p:nvSpPr>
        <p:spPr>
          <a:xfrm>
            <a:off x="1371600" y="2926080"/>
            <a:ext cx="9601200" cy="411480"/>
          </a:xfrm>
          <a:prstGeom prst="rect">
            <a:avLst/>
          </a:prstGeom>
          <a:noFill/>
          <a:ln/>
        </p:spPr>
        <p:txBody>
          <a:bodyPr wrap="square" lIns="0" tIns="0" rIns="0" bIns="0" rtlCol="0" anchor="t"/>
          <a:lstStyle/>
          <a:p>
            <a:pPr indent="0" marL="0">
              <a:buNone/>
            </a:pPr>
            <a:r>
              <a:rPr lang="en-US" sz="1400" dirty="0">
                <a:solidFill>
                  <a:srgbClr val="CFE3E1"/>
                </a:solidFill>
                <a:latin typeface="Calibri" pitchFamily="34" charset="0"/>
                <a:ea typeface="Calibri" pitchFamily="34" charset="-122"/>
                <a:cs typeface="Calibri" pitchFamily="34" charset="-120"/>
              </a:rPr>
              <a:t>Loss scaling turned fp16 crashes into 4 skipped steps and made the 20k-image run possible.</a:t>
            </a:r>
            <a:endParaRPr lang="en-US" sz="1400" dirty="0"/>
          </a:p>
        </p:txBody>
      </p:sp>
      <p:sp>
        <p:nvSpPr>
          <p:cNvPr id="11" name="Shape 9"/>
          <p:cNvSpPr/>
          <p:nvPr/>
        </p:nvSpPr>
        <p:spPr>
          <a:xfrm>
            <a:off x="685800" y="3566160"/>
            <a:ext cx="457200" cy="457200"/>
          </a:xfrm>
          <a:prstGeom prst="ellipse">
            <a:avLst/>
          </a:prstGeom>
          <a:solidFill>
            <a:srgbClr val="E8A33D"/>
          </a:solidFill>
          <a:ln w="12700">
            <a:solidFill>
              <a:srgbClr val="E8A33D"/>
            </a:solidFill>
            <a:prstDash val="solid"/>
          </a:ln>
        </p:spPr>
      </p:sp>
      <p:sp>
        <p:nvSpPr>
          <p:cNvPr id="12" name="Text 10"/>
          <p:cNvSpPr txBox="1"/>
          <p:nvPr/>
        </p:nvSpPr>
        <p:spPr>
          <a:xfrm>
            <a:off x="685800" y="3566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txBox="1"/>
          <p:nvPr/>
        </p:nvSpPr>
        <p:spPr>
          <a:xfrm>
            <a:off x="1371600" y="3520440"/>
            <a:ext cx="9601200" cy="384048"/>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Spend compute where it pays</a:t>
            </a:r>
            <a:endParaRPr lang="en-US" sz="1800" dirty="0"/>
          </a:p>
        </p:txBody>
      </p:sp>
      <p:sp>
        <p:nvSpPr>
          <p:cNvPr id="14" name="Text 12"/>
          <p:cNvSpPr txBox="1"/>
          <p:nvPr/>
        </p:nvSpPr>
        <p:spPr>
          <a:xfrm>
            <a:off x="1371600" y="3931920"/>
            <a:ext cx="9601200" cy="411480"/>
          </a:xfrm>
          <a:prstGeom prst="rect">
            <a:avLst/>
          </a:prstGeom>
          <a:noFill/>
          <a:ln/>
        </p:spPr>
        <p:txBody>
          <a:bodyPr wrap="square" lIns="0" tIns="0" rIns="0" bIns="0" rtlCol="0" anchor="t"/>
          <a:lstStyle/>
          <a:p>
            <a:pPr indent="0" marL="0">
              <a:buNone/>
            </a:pPr>
            <a:r>
              <a:rPr lang="en-US" sz="1400" dirty="0">
                <a:solidFill>
                  <a:srgbClr val="CFE3E1"/>
                </a:solidFill>
                <a:latin typeface="Calibri" pitchFamily="34" charset="0"/>
                <a:ea typeface="Calibri" pitchFamily="34" charset="-122"/>
                <a:cs typeface="Calibri" pitchFamily="34" charset="-120"/>
              </a:rPr>
              <a:t>ViT adapters and data parallelism paid; more pixels and longer schedules at 2k images did not.</a:t>
            </a:r>
            <a:endParaRPr lang="en-US" sz="1400" dirty="0"/>
          </a:p>
        </p:txBody>
      </p:sp>
      <p:sp>
        <p:nvSpPr>
          <p:cNvPr id="15" name="Shape 13"/>
          <p:cNvSpPr/>
          <p:nvPr/>
        </p:nvSpPr>
        <p:spPr>
          <a:xfrm>
            <a:off x="685800" y="4572000"/>
            <a:ext cx="457200" cy="457200"/>
          </a:xfrm>
          <a:prstGeom prst="ellipse">
            <a:avLst/>
          </a:prstGeom>
          <a:solidFill>
            <a:srgbClr val="E8A33D"/>
          </a:solidFill>
          <a:ln w="12700">
            <a:solidFill>
              <a:srgbClr val="E8A33D"/>
            </a:solidFill>
            <a:prstDash val="solid"/>
          </a:ln>
        </p:spPr>
      </p:sp>
      <p:sp>
        <p:nvSpPr>
          <p:cNvPr id="16" name="Text 14"/>
          <p:cNvSpPr txBox="1"/>
          <p:nvPr/>
        </p:nvSpPr>
        <p:spPr>
          <a:xfrm>
            <a:off x="685800" y="45720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txBox="1"/>
          <p:nvPr/>
        </p:nvSpPr>
        <p:spPr>
          <a:xfrm>
            <a:off x="1371600" y="4526280"/>
            <a:ext cx="9601200" cy="384048"/>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Know the metric</a:t>
            </a:r>
            <a:endParaRPr lang="en-US" sz="1800" dirty="0"/>
          </a:p>
        </p:txBody>
      </p:sp>
      <p:sp>
        <p:nvSpPr>
          <p:cNvPr id="18" name="Text 16"/>
          <p:cNvSpPr txBox="1"/>
          <p:nvPr/>
        </p:nvSpPr>
        <p:spPr>
          <a:xfrm>
            <a:off x="1371600" y="4937760"/>
            <a:ext cx="9601200" cy="411480"/>
          </a:xfrm>
          <a:prstGeom prst="rect">
            <a:avLst/>
          </a:prstGeom>
          <a:noFill/>
          <a:ln/>
        </p:spPr>
        <p:txBody>
          <a:bodyPr wrap="square" lIns="0" tIns="0" rIns="0" bIns="0" rtlCol="0" anchor="t"/>
          <a:lstStyle/>
          <a:p>
            <a:pPr indent="0" marL="0">
              <a:buNone/>
            </a:pPr>
            <a:r>
              <a:rPr lang="en-US" sz="1400" dirty="0">
                <a:solidFill>
                  <a:srgbClr val="CFE3E1"/>
                </a:solidFill>
                <a:latin typeface="Calibri" pitchFamily="34" charset="0"/>
                <a:ea typeface="Calibri" pitchFamily="34" charset="-122"/>
                <a:cs typeface="Calibri" pitchFamily="34" charset="-120"/>
              </a:rPr>
              <a:t>Length costs ~15% of BERT-BLEU₄; beam search raised BLEU-4 but lowered the target metric; MBR helped.</a:t>
            </a:r>
            <a:endParaRPr lang="en-US" sz="1400" dirty="0"/>
          </a:p>
        </p:txBody>
      </p:sp>
      <p:sp>
        <p:nvSpPr>
          <p:cNvPr id="19" name="Shape 17"/>
          <p:cNvSpPr/>
          <p:nvPr/>
        </p:nvSpPr>
        <p:spPr>
          <a:xfrm>
            <a:off x="640080" y="5623560"/>
            <a:ext cx="10881360" cy="777240"/>
          </a:xfrm>
          <a:prstGeom prst="roundRect">
            <a:avLst>
              <a:gd name="adj" fmla="val 14118"/>
            </a:avLst>
          </a:prstGeom>
          <a:solidFill>
            <a:srgbClr val="13303F"/>
          </a:solidFill>
          <a:ln w="12700">
            <a:solidFill>
              <a:srgbClr val="13303F"/>
            </a:solidFill>
            <a:prstDash val="solid"/>
          </a:ln>
        </p:spPr>
      </p:sp>
      <p:sp>
        <p:nvSpPr>
          <p:cNvPr id="20" name="Text 18"/>
          <p:cNvSpPr txBox="1"/>
          <p:nvPr/>
        </p:nvSpPr>
        <p:spPr>
          <a:xfrm>
            <a:off x="914400" y="5669280"/>
            <a:ext cx="10424160" cy="68580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Next: </a:t>
            </a:r>
            <a:pPr indent="0" marL="0">
              <a:buNone/>
            </a:pPr>
            <a:r>
              <a:rPr lang="en-US" sz="1400" dirty="0">
                <a:solidFill>
                  <a:srgbClr val="FFFFFF"/>
                </a:solidFill>
                <a:latin typeface="Calibri" pitchFamily="34" charset="0"/>
                <a:ea typeface="Calibri" pitchFamily="34" charset="-122"/>
                <a:cs typeface="Calibri" pitchFamily="34" charset="-120"/>
              </a:rPr>
              <a:t>length-aware training (length-bucket conditioning or EOS reweighting), larger MBR pools, and bf16 hardware to drop fp16 workarounds.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Remote-Sensing Image Captioning on VRSBench</dc:title>
  <dc:subject>Training-time optimization study</dc:subject>
  <dc:creator>Anonymous</dc:creator>
  <cp:lastModifiedBy>Anonymous</cp:lastModifiedBy>
  <cp:revision>1</cp:revision>
  <dcterms:created xsi:type="dcterms:W3CDTF">2026-10-01T15:45:06Z</dcterms:created>
  <dcterms:modified xsi:type="dcterms:W3CDTF">2026-10-01T15:45:06Z</dcterms:modified>
</cp:coreProperties>
</file>